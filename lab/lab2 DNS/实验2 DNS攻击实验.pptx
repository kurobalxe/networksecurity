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5" r:id="rId3"/>
  </p:sldMasterIdLst>
  <p:notesMasterIdLst>
    <p:notesMasterId r:id="rId5"/>
  </p:notesMasterIdLst>
  <p:handoutMasterIdLst>
    <p:handoutMasterId r:id="rId39"/>
  </p:handoutMasterIdLst>
  <p:sldIdLst>
    <p:sldId id="256" r:id="rId4"/>
    <p:sldId id="257" r:id="rId6"/>
    <p:sldId id="374" r:id="rId7"/>
    <p:sldId id="548" r:id="rId8"/>
    <p:sldId id="549" r:id="rId9"/>
    <p:sldId id="375" r:id="rId10"/>
    <p:sldId id="552" r:id="rId11"/>
    <p:sldId id="551" r:id="rId12"/>
    <p:sldId id="553" r:id="rId13"/>
    <p:sldId id="554" r:id="rId14"/>
    <p:sldId id="555" r:id="rId15"/>
    <p:sldId id="562" r:id="rId16"/>
    <p:sldId id="524" r:id="rId17"/>
    <p:sldId id="563" r:id="rId18"/>
    <p:sldId id="508" r:id="rId19"/>
    <p:sldId id="557" r:id="rId20"/>
    <p:sldId id="566" r:id="rId21"/>
    <p:sldId id="558" r:id="rId22"/>
    <p:sldId id="559" r:id="rId23"/>
    <p:sldId id="567" r:id="rId24"/>
    <p:sldId id="560" r:id="rId25"/>
    <p:sldId id="561" r:id="rId26"/>
    <p:sldId id="525" r:id="rId27"/>
    <p:sldId id="537" r:id="rId28"/>
    <p:sldId id="538" r:id="rId29"/>
    <p:sldId id="569" r:id="rId30"/>
    <p:sldId id="568" r:id="rId31"/>
    <p:sldId id="570" r:id="rId32"/>
    <p:sldId id="571" r:id="rId33"/>
    <p:sldId id="517" r:id="rId34"/>
    <p:sldId id="547" r:id="rId35"/>
    <p:sldId id="556" r:id="rId36"/>
    <p:sldId id="572" r:id="rId37"/>
    <p:sldId id="573" r:id="rId38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EAEAEA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0"/>
    <p:restoredTop sz="78566" autoAdjust="0"/>
  </p:normalViewPr>
  <p:slideViewPr>
    <p:cSldViewPr showGuides="1">
      <p:cViewPr varScale="1">
        <p:scale>
          <a:sx n="82" d="100"/>
          <a:sy n="82" d="100"/>
        </p:scale>
        <p:origin x="1383" y="57"/>
      </p:cViewPr>
      <p:guideLst>
        <p:guide orient="horz" pos="2167"/>
        <p:guide pos="289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60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67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467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67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67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DNS</a:t>
            </a:r>
            <a:r>
              <a:rPr lang="zh-CN" altLang="en-US" dirty="0">
                <a:solidFill>
                  <a:schemeClr val="tx1"/>
                </a:solidFill>
              </a:rPr>
              <a:t>请求的最终目的是从权威域名服务器得到答案。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Scapy</a:t>
            </a:r>
            <a:r>
              <a:rPr lang="zh-CN" altLang="en-US"/>
              <a:t>中</a:t>
            </a:r>
            <a:r>
              <a:rPr lang="en-US" altLang="zh-CN"/>
              <a:t>DNS</a:t>
            </a:r>
            <a:r>
              <a:rPr lang="zh-CN" altLang="en-US"/>
              <a:t>类个字段的</a:t>
            </a:r>
            <a:r>
              <a:rPr lang="zh-CN" altLang="en-US"/>
              <a:t>含义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各字段的数据类型和缺省</a:t>
            </a:r>
            <a:r>
              <a:rPr lang="zh-CN" altLang="en-US"/>
              <a:t>值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/>
              <a:t>、除了</a:t>
            </a:r>
            <a:r>
              <a:rPr lang="en-US" altLang="zh-CN"/>
              <a:t>Data</a:t>
            </a:r>
            <a:r>
              <a:rPr lang="zh-CN" altLang="en-US"/>
              <a:t>字段，其他设计到字符串的字段是否也用这种语法？例如：</a:t>
            </a:r>
            <a:r>
              <a:rPr lang="en-US" altLang="zh-CN"/>
              <a:t>Nam</a:t>
            </a:r>
            <a:r>
              <a:rPr lang="zh-CN" altLang="en-US"/>
              <a:t>字段？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Scapy</a:t>
            </a:r>
            <a:r>
              <a:rPr lang="zh-CN" altLang="en-US">
                <a:sym typeface="+mn-ea"/>
              </a:rPr>
              <a:t>中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类个字段的含义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各字段的数据类型和缺省值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/>
              <a:t>、被伪造的服务器</a:t>
            </a:r>
            <a:r>
              <a:rPr lang="en-US" altLang="zh-CN"/>
              <a:t>IP</a:t>
            </a:r>
            <a:r>
              <a:rPr lang="zh-CN" altLang="en-US"/>
              <a:t>，端口和</a:t>
            </a:r>
            <a:r>
              <a:rPr lang="en-US" altLang="zh-CN"/>
              <a:t>ID</a:t>
            </a:r>
            <a:r>
              <a:rPr lang="zh-CN" altLang="en-US"/>
              <a:t>？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attacker’s DNS Server</a:t>
            </a:r>
            <a:r>
              <a:rPr lang="zh-CN" altLang="en-US"/>
              <a:t>是什么</a:t>
            </a:r>
            <a:r>
              <a:rPr lang="zh-CN" altLang="en-US"/>
              <a:t>意思？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、被伪造的服务器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，端口和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如何猜测呢？顺序猜测</a:t>
            </a:r>
            <a:r>
              <a:rPr lang="zh-CN" altLang="en-US">
                <a:sym typeface="+mn-ea"/>
              </a:rPr>
              <a:t>么？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在早期，为了简单起见，递归解析器（本地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服务器）在向根服务器、</a:t>
            </a:r>
            <a:r>
              <a:rPr lang="en-US" altLang="zh-CN">
                <a:sym typeface="+mn-ea"/>
              </a:rPr>
              <a:t>TLD</a:t>
            </a:r>
            <a:r>
              <a:rPr lang="zh-CN" altLang="en-US">
                <a:sym typeface="+mn-ea"/>
              </a:rPr>
              <a:t>服务器或权威服务器发起查询时，确实会使用固定的源端口</a:t>
            </a:r>
            <a:r>
              <a:rPr lang="en-US" altLang="zh-CN">
                <a:sym typeface="+mn-ea"/>
              </a:rPr>
              <a:t>53</a:t>
            </a:r>
            <a:r>
              <a:rPr lang="zh-CN" altLang="en-US">
                <a:sym typeface="+mn-ea"/>
              </a:rPr>
              <a:t>和固定的目的端口</a:t>
            </a:r>
            <a:r>
              <a:rPr lang="en-US" altLang="zh-CN">
                <a:sym typeface="+mn-ea"/>
              </a:rPr>
              <a:t>53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、是否有必要先获取</a:t>
            </a:r>
            <a:r>
              <a:rPr lang="en-US" altLang="zh-CN">
                <a:sym typeface="+mn-ea"/>
              </a:rPr>
              <a:t>example.com DNS Server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地址作为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响应的源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地址？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、被伪造的服务器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，端口和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如何猜测呢？顺序猜测</a:t>
            </a:r>
            <a:r>
              <a:rPr lang="zh-CN" altLang="en-US">
                <a:sym typeface="+mn-ea"/>
              </a:rPr>
              <a:t>么？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在早期，为了简单起见，递归解析器（本地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服务器）在向根服务器、</a:t>
            </a:r>
            <a:r>
              <a:rPr lang="en-US" altLang="zh-CN">
                <a:sym typeface="+mn-ea"/>
              </a:rPr>
              <a:t>TLD</a:t>
            </a:r>
            <a:r>
              <a:rPr lang="zh-CN" altLang="en-US">
                <a:sym typeface="+mn-ea"/>
              </a:rPr>
              <a:t>服务器或权威服务器发起查询时，确实会使用固定的源端口</a:t>
            </a:r>
            <a:r>
              <a:rPr lang="en-US" altLang="zh-CN">
                <a:sym typeface="+mn-ea"/>
              </a:rPr>
              <a:t>53</a:t>
            </a:r>
            <a:r>
              <a:rPr lang="zh-CN" altLang="en-US">
                <a:sym typeface="+mn-ea"/>
              </a:rPr>
              <a:t>和固定的目的端口</a:t>
            </a:r>
            <a:r>
              <a:rPr lang="en-US" altLang="zh-CN">
                <a:sym typeface="+mn-ea"/>
              </a:rPr>
              <a:t>53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、是否有必要先获取</a:t>
            </a:r>
            <a:r>
              <a:rPr lang="en-US" altLang="zh-CN">
                <a:sym typeface="+mn-ea"/>
              </a:rPr>
              <a:t>example.com DNS Server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地址作为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响应的源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地址？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、被伪造的服务器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，端口和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如何猜测呢？顺序猜测</a:t>
            </a:r>
            <a:r>
              <a:rPr lang="zh-CN" altLang="en-US">
                <a:sym typeface="+mn-ea"/>
              </a:rPr>
              <a:t>么？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在早期，为了简单起见，递归解析器（本地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服务器）在向根服务器、</a:t>
            </a:r>
            <a:r>
              <a:rPr lang="en-US" altLang="zh-CN">
                <a:sym typeface="+mn-ea"/>
              </a:rPr>
              <a:t>TLD</a:t>
            </a:r>
            <a:r>
              <a:rPr lang="zh-CN" altLang="en-US">
                <a:sym typeface="+mn-ea"/>
              </a:rPr>
              <a:t>服务器或权威服务器发起查询时，确实会使用固定的源端口</a:t>
            </a:r>
            <a:r>
              <a:rPr lang="en-US" altLang="zh-CN">
                <a:sym typeface="+mn-ea"/>
              </a:rPr>
              <a:t>53</a:t>
            </a:r>
            <a:r>
              <a:rPr lang="zh-CN" altLang="en-US">
                <a:sym typeface="+mn-ea"/>
              </a:rPr>
              <a:t>和固定的目的端口</a:t>
            </a:r>
            <a:r>
              <a:rPr lang="en-US" altLang="zh-CN">
                <a:sym typeface="+mn-ea"/>
              </a:rPr>
              <a:t>53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、是否有必要先获取</a:t>
            </a:r>
            <a:r>
              <a:rPr lang="en-US" altLang="zh-CN">
                <a:sym typeface="+mn-ea"/>
              </a:rPr>
              <a:t>example.com DNS Server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地址作为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响应的源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地址？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、被伪造的服务器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，端口和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如何猜测呢？顺序猜测</a:t>
            </a:r>
            <a:r>
              <a:rPr lang="zh-CN" altLang="en-US">
                <a:sym typeface="+mn-ea"/>
              </a:rPr>
              <a:t>么？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在早期，为了简单起见，递归解析器（本地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服务器）在向根服务器、</a:t>
            </a:r>
            <a:r>
              <a:rPr lang="en-US" altLang="zh-CN">
                <a:sym typeface="+mn-ea"/>
              </a:rPr>
              <a:t>TLD</a:t>
            </a:r>
            <a:r>
              <a:rPr lang="zh-CN" altLang="en-US">
                <a:sym typeface="+mn-ea"/>
              </a:rPr>
              <a:t>服务器或权威服务器发起查询时，确实会使用固定的源端口</a:t>
            </a:r>
            <a:r>
              <a:rPr lang="en-US" altLang="zh-CN">
                <a:sym typeface="+mn-ea"/>
              </a:rPr>
              <a:t>53</a:t>
            </a:r>
            <a:r>
              <a:rPr lang="zh-CN" altLang="en-US">
                <a:sym typeface="+mn-ea"/>
              </a:rPr>
              <a:t>和固定的目的端口</a:t>
            </a:r>
            <a:r>
              <a:rPr lang="en-US" altLang="zh-CN">
                <a:sym typeface="+mn-ea"/>
              </a:rPr>
              <a:t>53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、是否有必要先获取</a:t>
            </a:r>
            <a:r>
              <a:rPr lang="en-US" altLang="zh-CN">
                <a:sym typeface="+mn-ea"/>
              </a:rPr>
              <a:t>example.com DNS Server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地址作为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响应的源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地址？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、被伪造的服务器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，端口和</a:t>
            </a:r>
            <a:r>
              <a:rPr lang="en-US" altLang="zh-CN">
                <a:sym typeface="+mn-ea"/>
              </a:rPr>
              <a:t>ID</a:t>
            </a:r>
            <a:r>
              <a:rPr lang="zh-CN" altLang="en-US">
                <a:sym typeface="+mn-ea"/>
              </a:rPr>
              <a:t>如何猜测呢？顺序猜测</a:t>
            </a:r>
            <a:r>
              <a:rPr lang="zh-CN" altLang="en-US">
                <a:sym typeface="+mn-ea"/>
              </a:rPr>
              <a:t>么？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在早期，为了简单起见，递归解析器（本地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服务器）在向根服务器、</a:t>
            </a:r>
            <a:r>
              <a:rPr lang="en-US" altLang="zh-CN">
                <a:sym typeface="+mn-ea"/>
              </a:rPr>
              <a:t>TLD</a:t>
            </a:r>
            <a:r>
              <a:rPr lang="zh-CN" altLang="en-US">
                <a:sym typeface="+mn-ea"/>
              </a:rPr>
              <a:t>服务器或权威服务器发起查询时，确实会使用固定的源端口</a:t>
            </a:r>
            <a:r>
              <a:rPr lang="en-US" altLang="zh-CN">
                <a:sym typeface="+mn-ea"/>
              </a:rPr>
              <a:t>53</a:t>
            </a:r>
            <a:r>
              <a:rPr lang="zh-CN" altLang="en-US">
                <a:sym typeface="+mn-ea"/>
              </a:rPr>
              <a:t>和固定的目的端口</a:t>
            </a:r>
            <a:r>
              <a:rPr lang="en-US" altLang="zh-CN">
                <a:sym typeface="+mn-ea"/>
              </a:rPr>
              <a:t>53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、是否有必要先获取</a:t>
            </a:r>
            <a:r>
              <a:rPr lang="en-US" altLang="zh-CN">
                <a:sym typeface="+mn-ea"/>
              </a:rPr>
              <a:t>example.com DNS Server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地址作为</a:t>
            </a:r>
            <a:r>
              <a:rPr lang="en-US" altLang="zh-CN">
                <a:sym typeface="+mn-ea"/>
              </a:rPr>
              <a:t>DNS</a:t>
            </a:r>
            <a:r>
              <a:rPr lang="zh-CN" altLang="en-US">
                <a:sym typeface="+mn-ea"/>
              </a:rPr>
              <a:t>响应的源</a:t>
            </a:r>
            <a:r>
              <a:rPr lang="en-US" altLang="zh-CN">
                <a:sym typeface="+mn-ea"/>
              </a:rPr>
              <a:t>IP</a:t>
            </a:r>
            <a:r>
              <a:rPr lang="zh-CN" altLang="en-US">
                <a:sym typeface="+mn-ea"/>
              </a:rPr>
              <a:t>地址？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20688"/>
            <a:ext cx="8229600" cy="5976664"/>
          </a:xfrm>
        </p:spPr>
        <p:txBody>
          <a:bodyPr/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000"/>
            </a:lvl3pPr>
            <a:lvl4pPr>
              <a:lnSpc>
                <a:spcPct val="150000"/>
              </a:lnSpc>
              <a:defRPr sz="20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571472" y="71438"/>
            <a:ext cx="6143668" cy="357166"/>
          </a:xfrm>
          <a:prstGeom prst="rect">
            <a:avLst/>
          </a:prstGeom>
        </p:spPr>
        <p:txBody>
          <a:bodyPr/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7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2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91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469900" marR="0" lvl="0" indent="-469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  <a:defRPr/>
            </a:pPr>
            <a:endParaRPr kumimoji="0" lang="zh-CN" altLang="en-US" sz="30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891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3941763"/>
            <a:ext cx="8229600" cy="21891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6" Type="http://schemas.openxmlformats.org/officeDocument/2006/relationships/theme" Target="../theme/theme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436245"/>
            <a:r>
              <a:rPr lang="zh-CN" altLang="en-US" dirty="0"/>
              <a:t>第二级</a:t>
            </a:r>
            <a:endParaRPr lang="zh-CN" altLang="en-US" dirty="0"/>
          </a:p>
          <a:p>
            <a:pPr lvl="2" indent="-394970"/>
            <a:r>
              <a:rPr lang="zh-CN" altLang="en-US" dirty="0"/>
              <a:t>第三级</a:t>
            </a:r>
            <a:endParaRPr lang="zh-CN" altLang="en-US" dirty="0"/>
          </a:p>
          <a:p>
            <a:pPr lvl="3" indent="-387350"/>
            <a:r>
              <a:rPr lang="zh-CN" altLang="en-US" dirty="0"/>
              <a:t>第四级</a:t>
            </a:r>
            <a:endParaRPr lang="zh-CN" altLang="en-US" dirty="0"/>
          </a:p>
          <a:p>
            <a:pPr lvl="4" indent="-39878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73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733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733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436245"/>
            <a:r>
              <a:rPr lang="zh-CN" altLang="en-US" dirty="0"/>
              <a:t>第二级</a:t>
            </a:r>
            <a:endParaRPr lang="zh-CN" altLang="en-US" dirty="0"/>
          </a:p>
          <a:p>
            <a:pPr lvl="2" indent="-394970"/>
            <a:r>
              <a:rPr lang="zh-CN" altLang="en-US" dirty="0"/>
              <a:t>第三级</a:t>
            </a:r>
            <a:endParaRPr lang="zh-CN" altLang="en-US" dirty="0"/>
          </a:p>
          <a:p>
            <a:pPr lvl="3" indent="-387350"/>
            <a:r>
              <a:rPr lang="zh-CN" altLang="en-US" dirty="0"/>
              <a:t>第四级</a:t>
            </a:r>
            <a:endParaRPr lang="zh-CN" altLang="en-US" dirty="0"/>
          </a:p>
          <a:p>
            <a:pPr lvl="4" indent="-39878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AutoShape 4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733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733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733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ransition/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 b="1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4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6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8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3030" indent="-398780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tags" Target="../tags/tag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hyperlink" Target="https://wizardforcel.gitbooks.io/scapy-docs/content/" TargetMode="External"/><Relationship Id="rId1" Type="http://schemas.openxmlformats.org/officeDocument/2006/relationships/hyperlink" Target="https://seedsecuritylabs.org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8494712" cy="1371600"/>
          </a:xfrm>
        </p:spPr>
        <p:txBody>
          <a:bodyPr wrap="square" lIns="91440" tIns="45720" rIns="91440" bIns="45720" anchor="b"/>
          <a:lstStyle/>
          <a:p>
            <a:pPr eaLnBrk="1" hangingPunct="1">
              <a:buClrTx/>
              <a:buSzTx/>
              <a:buFontTx/>
            </a:pPr>
            <a:r>
              <a:rPr lang="zh-CN" altLang="en-US" sz="4400" dirty="0">
                <a:latin typeface="+mj-lt"/>
                <a:ea typeface="+mj-ea"/>
                <a:cs typeface="+mj-cs"/>
              </a:rPr>
              <a:t>实验</a:t>
            </a:r>
            <a:r>
              <a:rPr lang="zh-CN" altLang="en-US" sz="4400" dirty="0"/>
              <a:t>二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DNS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协议漏洞利用实验</a:t>
            </a:r>
            <a:endParaRPr lang="zh-CN" altLang="en-US" sz="4400" dirty="0">
              <a:latin typeface="+mj-lt"/>
              <a:ea typeface="+mj-ea"/>
              <a:cs typeface="+mj-cs"/>
            </a:endParaRPr>
          </a:p>
        </p:txBody>
      </p:sp>
      <p:sp>
        <p:nvSpPr>
          <p:cNvPr id="5122" name="Rectangle 46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79712" y="5605790"/>
            <a:ext cx="5688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华中科技大学网络空间安全学院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5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/>
          <a:lstStyle/>
          <a:p>
            <a:pPr eaLnBrk="1" hangingPunct="1"/>
            <a:r>
              <a:rPr lang="zh-CN" altLang="en-US" dirty="0"/>
              <a:t>主要内容</a:t>
            </a:r>
            <a:endParaRPr lang="zh-CN" altLang="en-US" dirty="0"/>
          </a:p>
        </p:txBody>
      </p:sp>
      <p:sp>
        <p:nvSpPr>
          <p:cNvPr id="614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/>
            <a:r>
              <a:rPr lang="zh-CN" altLang="en-US" dirty="0"/>
              <a:t>实验目的</a:t>
            </a:r>
            <a:endParaRPr lang="zh-CN" altLang="en-US" dirty="0"/>
          </a:p>
          <a:p>
            <a:pPr eaLnBrk="1" hangingPunct="1"/>
            <a:r>
              <a:rPr lang="zh-CN" altLang="en-US" dirty="0">
                <a:sym typeface="+mn-ea"/>
              </a:rPr>
              <a:t>实验环境</a:t>
            </a:r>
            <a:endParaRPr lang="zh-CN" altLang="en-US" dirty="0"/>
          </a:p>
          <a:p>
            <a:pPr eaLnBrk="1" hangingPunct="1"/>
            <a:r>
              <a:rPr lang="zh-CN" altLang="en-US" dirty="0"/>
              <a:t>实验内容</a:t>
            </a:r>
            <a:endParaRPr lang="zh-CN" altLang="en-US" dirty="0"/>
          </a:p>
          <a:p>
            <a:pPr eaLnBrk="1" hangingPunct="1"/>
            <a:r>
              <a:rPr lang="zh-CN" altLang="en-US" dirty="0"/>
              <a:t>实验要求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/>
          <a:lstStyle/>
          <a:p>
            <a:pPr eaLnBrk="1" hangingPunct="1"/>
            <a:r>
              <a:rPr lang="en-US" altLang="zh-CN" dirty="0"/>
              <a:t>1 </a:t>
            </a:r>
            <a:r>
              <a:rPr lang="zh-CN" altLang="en-US" dirty="0"/>
              <a:t>实验目的</a:t>
            </a:r>
            <a:endParaRPr lang="zh-CN" altLang="en-US" dirty="0"/>
          </a:p>
        </p:txBody>
      </p:sp>
      <p:sp>
        <p:nvSpPr>
          <p:cNvPr id="8194" name="Rectangle 4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marL="469900" marR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sz="30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本实验的学习目标是让学生获得有关</a:t>
            </a:r>
            <a:r>
              <a:rPr kumimoji="0" lang="zh-CN" sz="30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协议</a:t>
            </a:r>
            <a:r>
              <a:rPr kumimoji="0" sz="30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漏洞的第一手经验，以及针对这些漏洞的攻击。</a:t>
            </a:r>
            <a:endParaRPr kumimoji="0" sz="30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sz="30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TCP/IP协议中的漏洞代表了协议设计和实现中的一种特殊类型的漏洞，它们提供了宝贵的教训</a:t>
            </a:r>
            <a:endParaRPr kumimoji="0" sz="30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sz="30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重点学习</a:t>
            </a:r>
            <a:r>
              <a:rPr kumimoji="0" lang="en-US" altLang="zh-CN" sz="30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DNS</a:t>
            </a:r>
            <a:r>
              <a:rPr kumimoji="0" lang="zh-CN" altLang="en-US" sz="30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协议的漏洞以及如何利用</a:t>
            </a:r>
            <a:r>
              <a:rPr lang="zh-CN" altLang="en-US" dirty="0">
                <a:sym typeface="+mn-ea"/>
              </a:rPr>
              <a:t>漏洞进行攻击</a:t>
            </a:r>
            <a:endParaRPr kumimoji="0" sz="30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en-US" sz="3000" b="1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</a:t>
            </a:r>
            <a:endParaRPr kumimoji="0" lang="zh-CN" altLang="en-US" sz="30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/>
          <a:lstStyle/>
          <a:p>
            <a:pPr eaLnBrk="1" hangingPunct="1"/>
            <a:r>
              <a:rPr lang="en-US" altLang="zh-CN" dirty="0"/>
              <a:t>2 </a:t>
            </a:r>
            <a:r>
              <a:rPr lang="zh-CN" altLang="en-US" dirty="0"/>
              <a:t>实验环境</a:t>
            </a:r>
            <a:endParaRPr lang="en-US" altLang="zh-CN" dirty="0"/>
          </a:p>
        </p:txBody>
      </p:sp>
      <p:sp>
        <p:nvSpPr>
          <p:cNvPr id="8194" name="Rectangle 4"/>
          <p:cNvSpPr>
            <a:spLocks noGrp="1"/>
          </p:cNvSpPr>
          <p:nvPr>
            <p:ph idx="1"/>
          </p:nvPr>
        </p:nvSpPr>
        <p:spPr>
          <a:xfrm>
            <a:off x="260350" y="1752600"/>
            <a:ext cx="8307705" cy="4267200"/>
          </a:xfrm>
        </p:spPr>
        <p:txBody>
          <a:bodyPr wrap="square" lIns="91440" tIns="45720" rIns="91440" bIns="45720" anchor="t"/>
          <a:lstStyle/>
          <a:p>
            <a:pPr lvl="1">
              <a:lnSpc>
                <a:spcPct val="100000"/>
              </a:lnSpc>
            </a:pPr>
            <a:r>
              <a:rPr lang="zh-CN" altLang="en-US" sz="2800" dirty="0">
                <a:sym typeface="+mn-ea"/>
              </a:rPr>
              <a:t>登陆</a:t>
            </a:r>
            <a:r>
              <a:rPr lang="en-US" altLang="zh-CN" sz="2800" dirty="0" err="1">
                <a:sym typeface="+mn-ea"/>
              </a:rPr>
              <a:t>vmcourse</a:t>
            </a:r>
            <a:r>
              <a:rPr lang="zh-CN" altLang="en-US" sz="2800" dirty="0" err="1">
                <a:sym typeface="+mn-ea"/>
              </a:rPr>
              <a:t>国产化教学实训</a:t>
            </a:r>
            <a:r>
              <a:rPr lang="zh-CN" altLang="en-US" sz="2800" dirty="0">
                <a:sym typeface="+mn-ea"/>
              </a:rPr>
              <a:t>平台：</a:t>
            </a:r>
            <a:endParaRPr lang="en-US" altLang="zh-CN" sz="2800" dirty="0">
              <a:sym typeface="+mn-ea"/>
            </a:endParaRPr>
          </a:p>
          <a:p>
            <a:pPr lvl="2"/>
            <a:r>
              <a:rPr lang="en-US" altLang="zh-CN" sz="2500" dirty="0">
                <a:sym typeface="+mn-ea"/>
              </a:rPr>
              <a:t>https://</a:t>
            </a:r>
            <a:r>
              <a:rPr lang="en-US" altLang="zh-CN" sz="2500" dirty="0">
                <a:sym typeface="+mn-ea"/>
              </a:rPr>
              <a:t>sino.cberse.cn</a:t>
            </a:r>
            <a:endParaRPr lang="en-US" altLang="zh-CN" sz="2500" dirty="0">
              <a:sym typeface="+mn-ea"/>
            </a:endParaRPr>
          </a:p>
          <a:p>
            <a:pPr lvl="2"/>
            <a:r>
              <a:rPr lang="zh-CN" altLang="en-US" sz="2800" dirty="0">
                <a:sym typeface="+mn-ea"/>
              </a:rPr>
              <a:t>虚拟机系统：</a:t>
            </a:r>
            <a:r>
              <a:rPr lang="en-US" altLang="zh-CN" sz="2800" dirty="0">
                <a:sym typeface="+mn-ea"/>
              </a:rPr>
              <a:t>ubuntu 20.04(seed20.04)</a:t>
            </a:r>
            <a:endParaRPr lang="en-US" altLang="zh-CN" sz="2800" dirty="0">
              <a:sym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zh-CN" sz="2800" dirty="0">
                <a:sym typeface="+mn-ea"/>
              </a:rPr>
              <a:t>ubuntu</a:t>
            </a:r>
            <a:r>
              <a:rPr lang="zh-CN" altLang="en-US" sz="2800" dirty="0">
                <a:sym typeface="+mn-ea"/>
              </a:rPr>
              <a:t>系统的用户密码</a:t>
            </a:r>
            <a:endParaRPr lang="en-US" altLang="zh-CN" sz="2800" dirty="0">
              <a:sym typeface="+mn-ea"/>
            </a:endParaRPr>
          </a:p>
          <a:p>
            <a:pPr marL="471170" lvl="1" indent="0">
              <a:lnSpc>
                <a:spcPct val="100000"/>
              </a:lnSpc>
              <a:buNone/>
            </a:pPr>
            <a:r>
              <a:rPr lang="en-US" altLang="zh-CN" sz="2800" dirty="0">
                <a:sym typeface="+mn-ea"/>
              </a:rPr>
              <a:t>   </a:t>
            </a:r>
            <a:r>
              <a:rPr lang="zh-CN" altLang="en-US" sz="2800" dirty="0">
                <a:sym typeface="+mn-ea"/>
              </a:rPr>
              <a:t>虚拟机</a:t>
            </a:r>
            <a:r>
              <a:rPr kumimoji="0" lang="zh-CN" altLang="en-US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用户：</a:t>
            </a:r>
            <a:r>
              <a:rPr kumimoji="0" lang="en-US" altLang="zh-CN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ubuntu </a:t>
            </a:r>
            <a:r>
              <a:rPr kumimoji="0" lang="zh-CN" altLang="en-US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，  </a:t>
            </a:r>
            <a:r>
              <a:rPr lang="zh-CN" altLang="en-US" sz="2800" noProof="1">
                <a:cs typeface="+mn-ea"/>
              </a:rPr>
              <a:t>密码：</a:t>
            </a:r>
            <a:r>
              <a:rPr kumimoji="0" lang="en-US" altLang="zh-CN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123456</a:t>
            </a:r>
            <a:endParaRPr kumimoji="0" lang="en-US" altLang="zh-CN" sz="280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471170" lvl="1" indent="0">
              <a:lnSpc>
                <a:spcPct val="100000"/>
              </a:lnSpc>
              <a:buNone/>
            </a:pPr>
            <a:r>
              <a:rPr lang="en-US" altLang="zh-CN" sz="2800" noProof="1">
                <a:cs typeface="+mn-ea"/>
              </a:rPr>
              <a:t>    </a:t>
            </a:r>
            <a:r>
              <a:rPr lang="zh-CN" altLang="en-US" sz="2800" noProof="1">
                <a:cs typeface="+mn-ea"/>
              </a:rPr>
              <a:t>容器</a:t>
            </a:r>
            <a:r>
              <a:rPr lang="en-US" altLang="zh-CN" sz="2800" noProof="1">
                <a:cs typeface="+mn-ea"/>
              </a:rPr>
              <a:t>server</a:t>
            </a:r>
            <a:r>
              <a:rPr lang="zh-CN" altLang="en-US" sz="2800" noProof="1">
                <a:cs typeface="+mn-ea"/>
              </a:rPr>
              <a:t>用户：</a:t>
            </a:r>
            <a:r>
              <a:rPr lang="en-US" altLang="zh-CN" sz="2800" noProof="1">
                <a:cs typeface="+mn-ea"/>
              </a:rPr>
              <a:t>seed</a:t>
            </a:r>
            <a:r>
              <a:rPr lang="en-US" altLang="zh-CN" sz="2800" noProof="1">
                <a:cs typeface="+mn-ea"/>
              </a:rPr>
              <a:t> </a:t>
            </a:r>
            <a:r>
              <a:rPr lang="zh-CN" altLang="en-US" sz="2800" noProof="1">
                <a:cs typeface="+mn-ea"/>
              </a:rPr>
              <a:t>，密码：</a:t>
            </a:r>
            <a:r>
              <a:rPr lang="en-US" altLang="zh-CN" sz="2800" noProof="1">
                <a:cs typeface="+mn-ea"/>
              </a:rPr>
              <a:t>dees</a:t>
            </a:r>
            <a:endParaRPr kumimoji="0" lang="zh-CN" altLang="en-US" sz="2800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927100" marR="0" lvl="1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r>
              <a:rPr kumimoji="0" lang="zh-CN" altLang="en-US" sz="2800" i="0" u="none" strike="noStrike" kern="0" cap="none" spc="0" normalizeH="0" baseline="0" noProof="1">
                <a:solidFill>
                  <a:schemeClr val="tx1"/>
                </a:solidFill>
                <a:latin typeface="+mn-lt"/>
                <a:ea typeface="+mn-ea"/>
                <a:cs typeface="+mn-ea"/>
              </a:rPr>
              <a:t>实验</a:t>
            </a:r>
            <a:r>
              <a:rPr lang="zh-CN" altLang="en-US" sz="2800" noProof="1">
                <a:cs typeface="+mn-ea"/>
              </a:rPr>
              <a:t>采用一个虚拟机，多个容器来完成</a:t>
            </a:r>
            <a:endParaRPr lang="en-US" altLang="zh-CN" sz="2800" noProof="1"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None/>
            </a:pPr>
            <a:endParaRPr lang="en-US" altLang="zh-CN" sz="2800" noProof="1"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None/>
            </a:pPr>
            <a:endParaRPr kumimoji="0" lang="en-US" altLang="zh-CN" sz="28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None/>
            </a:pPr>
            <a:endParaRPr kumimoji="0" lang="en-US" altLang="zh-CN" sz="26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469900" marR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o"/>
            </a:pPr>
            <a:endParaRPr kumimoji="0" lang="en-US" altLang="zh-CN" sz="3000" b="1" i="0" u="none" strike="noStrike" kern="0" cap="none" spc="0" normalizeH="0" baseline="0" noProof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19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docker</a:t>
            </a:r>
            <a:r>
              <a:rPr lang="zh-CN" altLang="en-US" dirty="0"/>
              <a:t>容器的使用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4675" y="1628775"/>
            <a:ext cx="8001000" cy="4735830"/>
          </a:xfrm>
        </p:spPr>
        <p:txBody>
          <a:bodyPr/>
          <a:lstStyle/>
          <a:p>
            <a:r>
              <a:rPr lang="zh-CN" altLang="en-US" sz="2000" dirty="0"/>
              <a:t>容器查看</a:t>
            </a:r>
            <a:endParaRPr lang="en-US" altLang="zh-CN" sz="2000" dirty="0"/>
          </a:p>
          <a:p>
            <a:pPr lvl="1"/>
            <a:r>
              <a:rPr lang="en-US" altLang="zh-CN" sz="1800" dirty="0"/>
              <a:t>sudo docker </a:t>
            </a:r>
            <a:r>
              <a:rPr lang="en-US" altLang="zh-CN" sz="1800" dirty="0" err="1"/>
              <a:t>ps</a:t>
            </a:r>
            <a:r>
              <a:rPr lang="en-US" altLang="zh-CN" sz="1800" dirty="0"/>
              <a:t> –a</a:t>
            </a:r>
            <a:r>
              <a:rPr lang="zh-CN" altLang="en-US" sz="1800" dirty="0"/>
              <a:t>，可以看到已有</a:t>
            </a:r>
            <a:r>
              <a:rPr lang="en-US" altLang="zh-CN" sz="1800" dirty="0"/>
              <a:t>4</a:t>
            </a:r>
            <a:r>
              <a:rPr lang="zh-CN" altLang="en-US" sz="1800" dirty="0"/>
              <a:t>个容器：</a:t>
            </a:r>
            <a:endParaRPr lang="zh-CN" altLang="en-US" sz="1800" dirty="0"/>
          </a:p>
          <a:p>
            <a:pPr marL="471170" lvl="1" indent="0">
              <a:buNone/>
            </a:pPr>
            <a:r>
              <a:rPr lang="en-US" altLang="zh-CN" sz="1800" dirty="0">
                <a:solidFill>
                  <a:srgbClr val="FF0000"/>
                </a:solidFill>
              </a:rPr>
              <a:t>user</a:t>
            </a:r>
            <a:r>
              <a:rPr lang="en-US" altLang="zh-CN" sz="1800" dirty="0"/>
              <a:t>(10.10.27.3),   </a:t>
            </a:r>
            <a:r>
              <a:rPr lang="en-US" altLang="zh-CN" sz="1800" dirty="0" err="1">
                <a:solidFill>
                  <a:srgbClr val="FF0000"/>
                </a:solidFill>
              </a:rPr>
              <a:t>server</a:t>
            </a:r>
            <a:r>
              <a:rPr lang="en-US" altLang="zh-CN" sz="1800" dirty="0" err="1"/>
              <a:t>(local dns: 10.10.27.2)</a:t>
            </a:r>
            <a:r>
              <a:rPr lang="zh-CN" altLang="en-US" sz="1800" dirty="0" err="1"/>
              <a:t>，</a:t>
            </a:r>
            <a:r>
              <a:rPr lang="en-US" altLang="zh-CN" sz="1800" dirty="0" err="1">
                <a:solidFill>
                  <a:srgbClr val="FF0000"/>
                </a:solidFill>
              </a:rPr>
              <a:t>attacker</a:t>
            </a:r>
            <a:r>
              <a:rPr lang="en-US" altLang="zh-CN" sz="1800" dirty="0" err="1"/>
              <a:t>(10.10.27.1,</a:t>
            </a:r>
            <a:r>
              <a:rPr lang="zh-CN" altLang="en-US" sz="1800" dirty="0" err="1"/>
              <a:t>等同于虚拟机），</a:t>
            </a:r>
            <a:r>
              <a:rPr lang="en-US" altLang="zh-CN" sz="1800" dirty="0" err="1">
                <a:solidFill>
                  <a:srgbClr val="FF0000"/>
                </a:solidFill>
              </a:rPr>
              <a:t>attacker-ns</a:t>
            </a:r>
            <a:r>
              <a:rPr lang="zh-CN" altLang="en-US" sz="1800" dirty="0" err="1"/>
              <a:t>（攻击者的</a:t>
            </a:r>
            <a:r>
              <a:rPr lang="en-US" altLang="zh-CN" sz="1800" dirty="0" err="1"/>
              <a:t>DNS</a:t>
            </a:r>
            <a:r>
              <a:rPr lang="zh-CN" altLang="en-US" sz="1800" dirty="0" err="1"/>
              <a:t>，</a:t>
            </a:r>
            <a:r>
              <a:rPr lang="en-US" altLang="zh-CN" sz="1800" dirty="0" err="1"/>
              <a:t>10.10.27.4</a:t>
            </a:r>
            <a:r>
              <a:rPr lang="zh-CN" altLang="en-US" sz="1800" dirty="0" err="1"/>
              <a:t>）</a:t>
            </a:r>
            <a:endParaRPr lang="en-US" altLang="zh-CN" sz="1800" dirty="0"/>
          </a:p>
          <a:p>
            <a:r>
              <a:rPr lang="zh-CN" altLang="en-US" sz="2000" dirty="0"/>
              <a:t>容器启用</a:t>
            </a:r>
            <a:r>
              <a:rPr lang="en-US" altLang="zh-CN" sz="2000" dirty="0"/>
              <a:t>/</a:t>
            </a:r>
            <a:r>
              <a:rPr lang="zh-CN" altLang="en-US" sz="2000" dirty="0"/>
              <a:t>停止</a:t>
            </a:r>
            <a:endParaRPr lang="en-US" altLang="zh-CN" sz="2000" dirty="0"/>
          </a:p>
          <a:p>
            <a:pPr lvl="1"/>
            <a:r>
              <a:rPr lang="en-US" altLang="zh-CN" sz="1800" dirty="0"/>
              <a:t>sudo docker start/stop </a:t>
            </a:r>
            <a:r>
              <a:rPr lang="zh-CN" altLang="en-US" sz="1800" dirty="0">
                <a:solidFill>
                  <a:srgbClr val="FF0000"/>
                </a:solidFill>
              </a:rPr>
              <a:t>容器名</a:t>
            </a:r>
            <a:endParaRPr lang="en-US" altLang="zh-CN" sz="18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进入容器的命令行</a:t>
            </a:r>
            <a:endParaRPr lang="en-US" altLang="zh-CN" sz="2000" dirty="0"/>
          </a:p>
          <a:p>
            <a:pPr lvl="1"/>
            <a:r>
              <a:rPr lang="en-US" altLang="zh-CN" sz="1800" dirty="0">
                <a:sym typeface="+mn-ea"/>
              </a:rPr>
              <a:t>sudo </a:t>
            </a:r>
            <a:r>
              <a:rPr lang="en-US" altLang="zh-CN" sz="1800" dirty="0"/>
              <a:t>docker exec –it </a:t>
            </a:r>
            <a:r>
              <a:rPr lang="zh-CN" altLang="en-US" sz="1800" dirty="0">
                <a:solidFill>
                  <a:srgbClr val="FF0000"/>
                </a:solidFill>
              </a:rPr>
              <a:t>容器名 </a:t>
            </a:r>
            <a:r>
              <a:rPr lang="en-US" altLang="zh-CN" sz="1800" dirty="0">
                <a:solidFill>
                  <a:srgbClr val="FF0000"/>
                </a:solidFill>
              </a:rPr>
              <a:t>/bin/bash</a:t>
            </a:r>
            <a:endParaRPr lang="en-US" altLang="zh-CN" sz="18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删除容器</a:t>
            </a:r>
            <a:r>
              <a:rPr lang="en-US" altLang="zh-CN" sz="2000" dirty="0"/>
              <a:t>(</a:t>
            </a:r>
            <a:r>
              <a:rPr lang="zh-CN" altLang="en-US" sz="2000" dirty="0"/>
              <a:t>实验未完成前不要删除）</a:t>
            </a:r>
            <a:endParaRPr lang="en-US" altLang="zh-CN" sz="2000" dirty="0"/>
          </a:p>
          <a:p>
            <a:pPr lvl="1"/>
            <a:r>
              <a:rPr lang="en-US" altLang="zh-CN" sz="1800" dirty="0">
                <a:sym typeface="+mn-ea"/>
              </a:rPr>
              <a:t>sudo </a:t>
            </a:r>
            <a:r>
              <a:rPr lang="en-US" altLang="zh-CN" sz="1800" dirty="0"/>
              <a:t>docker rm </a:t>
            </a:r>
            <a:r>
              <a:rPr lang="zh-CN" altLang="en-US" sz="1800" dirty="0"/>
              <a:t>容器名</a:t>
            </a:r>
            <a:endParaRPr lang="en-US" altLang="zh-CN" sz="1800" dirty="0"/>
          </a:p>
          <a:p>
            <a:pPr marL="469900" lvl="1" indent="-469900">
              <a:buFont typeface="Wingdings" panose="05000000000000000000" pitchFamily="2" charset="2"/>
              <a:buChar char="o"/>
            </a:pPr>
            <a:r>
              <a:rPr lang="zh-CN" altLang="en-US" sz="2000" b="1" dirty="0">
                <a:cs typeface="+mn-cs"/>
              </a:rPr>
              <a:t>主机和容器之间拷贝数据</a:t>
            </a:r>
            <a:endParaRPr lang="en-US" altLang="zh-CN" sz="2000" b="1" dirty="0">
              <a:cs typeface="+mn-cs"/>
            </a:endParaRPr>
          </a:p>
          <a:p>
            <a:pPr lvl="1"/>
            <a:r>
              <a:rPr lang="en-US" altLang="zh-CN" sz="1800" dirty="0">
                <a:sym typeface="+mn-ea"/>
              </a:rPr>
              <a:t>sudo </a:t>
            </a:r>
            <a:r>
              <a:rPr lang="en-US" altLang="zh-CN" sz="1800" dirty="0"/>
              <a:t>docker cp </a:t>
            </a:r>
            <a:r>
              <a:rPr lang="zh-CN" altLang="en-US" sz="1800" dirty="0"/>
              <a:t>容器名称</a:t>
            </a:r>
            <a:r>
              <a:rPr lang="en-US" altLang="zh-CN" sz="1800" dirty="0"/>
              <a:t>:</a:t>
            </a:r>
            <a:r>
              <a:rPr lang="zh-CN" altLang="en-US" sz="1800" dirty="0"/>
              <a:t>路径</a:t>
            </a:r>
            <a:r>
              <a:rPr lang="en-US" altLang="zh-CN" sz="1800" dirty="0"/>
              <a:t> </a:t>
            </a:r>
            <a:r>
              <a:rPr lang="zh-CN" altLang="en-US" sz="1800" dirty="0"/>
              <a:t>主机路径</a:t>
            </a:r>
            <a:endParaRPr lang="en-US" altLang="zh-CN" sz="1800" dirty="0"/>
          </a:p>
          <a:p>
            <a:pPr lvl="1"/>
            <a:r>
              <a:rPr lang="en-US" altLang="zh-CN" sz="1800" dirty="0">
                <a:sym typeface="+mn-ea"/>
              </a:rPr>
              <a:t>sudo </a:t>
            </a:r>
            <a:r>
              <a:rPr lang="en-US" altLang="zh-CN" sz="1800" dirty="0"/>
              <a:t>docker cp</a:t>
            </a:r>
            <a:r>
              <a:rPr lang="zh-CN" altLang="en-US" sz="1800" dirty="0"/>
              <a:t>主机路径 容器名称</a:t>
            </a:r>
            <a:r>
              <a:rPr lang="en-US" altLang="zh-CN" sz="1800" dirty="0"/>
              <a:t>:</a:t>
            </a:r>
            <a:r>
              <a:rPr lang="zh-CN" altLang="en-US" sz="1800" dirty="0"/>
              <a:t>路径</a:t>
            </a:r>
            <a:endParaRPr lang="zh-CN" altLang="en-US" sz="1800" dirty="0"/>
          </a:p>
          <a:p>
            <a:pPr lvl="1"/>
            <a:endParaRPr lang="zh-CN" altLang="en-US" sz="1800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b"/>
          <a:lstStyle/>
          <a:p>
            <a:pPr eaLnBrk="1" hangingPunct="1"/>
            <a:r>
              <a:rPr lang="en-US" altLang="zh-CN" dirty="0"/>
              <a:t>3 </a:t>
            </a:r>
            <a:r>
              <a:rPr lang="zh-CN" altLang="en-US" dirty="0"/>
              <a:t>实验内容</a:t>
            </a:r>
            <a:endParaRPr lang="zh-CN" altLang="en-US" dirty="0"/>
          </a:p>
        </p:txBody>
      </p:sp>
      <p:sp>
        <p:nvSpPr>
          <p:cNvPr id="9218" name="Rectangle 3"/>
          <p:cNvSpPr>
            <a:spLocks noGrp="1"/>
          </p:cNvSpPr>
          <p:nvPr>
            <p:ph idx="1"/>
          </p:nvPr>
        </p:nvSpPr>
        <p:spPr/>
        <p:txBody>
          <a:bodyPr wrap="square" lIns="91440" tIns="45720" rIns="91440" bIns="45720" anchor="t"/>
          <a:lstStyle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DNS</a:t>
            </a:r>
            <a:r>
              <a:rPr lang="zh-CN" altLang="en-US" sz="2800" dirty="0"/>
              <a:t>本地攻击</a:t>
            </a: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DNS</a:t>
            </a:r>
            <a:r>
              <a:rPr lang="zh-CN" altLang="en-US" sz="2800" dirty="0"/>
              <a:t>远程攻击</a:t>
            </a:r>
            <a:endParaRPr lang="en-US" altLang="zh-CN" sz="2800" dirty="0"/>
          </a:p>
        </p:txBody>
      </p:sp>
      <p:sp>
        <p:nvSpPr>
          <p:cNvPr id="921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44624"/>
            <a:ext cx="6172200" cy="323850"/>
          </a:xfr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eaLnBrk="1" hangingPunct="1"/>
            <a:r>
              <a:rPr lang="zh-CN" altLang="en-US" sz="1800"/>
              <a:t>真正的</a:t>
            </a:r>
            <a:r>
              <a:rPr lang="en-US" altLang="zh-CN" sz="1800"/>
              <a:t>DNS</a:t>
            </a:r>
            <a:r>
              <a:rPr lang="zh-CN" altLang="en-US" sz="1800"/>
              <a:t>实现</a:t>
            </a:r>
            <a:endParaRPr lang="zh-CN" altLang="en-US" sz="1800"/>
          </a:p>
        </p:txBody>
      </p:sp>
      <p:sp>
        <p:nvSpPr>
          <p:cNvPr id="10035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6248400" y="6237288"/>
            <a:ext cx="2895600" cy="457200"/>
          </a:xfrm>
        </p:spPr>
        <p:txBody>
          <a:bodyPr/>
          <a:lstStyle/>
          <a:p>
            <a:pPr>
              <a:defRPr/>
            </a:pPr>
            <a:fld id="{3E0784BE-5BEB-4AB2-9494-5A901104EB65}" type="slidenum">
              <a:rPr lang="en-US" altLang="zh-CN"/>
            </a:fld>
            <a:endParaRPr lang="en-US" altLang="zh-CN"/>
          </a:p>
        </p:txBody>
      </p:sp>
      <p:sp>
        <p:nvSpPr>
          <p:cNvPr id="232452" name="Text Box 4"/>
          <p:cNvSpPr txBox="1">
            <a:spLocks noChangeArrowheads="1"/>
          </p:cNvSpPr>
          <p:nvPr/>
        </p:nvSpPr>
        <p:spPr bwMode="auto">
          <a:xfrm>
            <a:off x="4637088" y="2152650"/>
            <a:ext cx="1590675" cy="37623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53" name="Text Box 5"/>
          <p:cNvSpPr txBox="1">
            <a:spLocks noChangeArrowheads="1"/>
          </p:cNvSpPr>
          <p:nvPr/>
        </p:nvSpPr>
        <p:spPr bwMode="auto">
          <a:xfrm>
            <a:off x="2122488" y="3068638"/>
            <a:ext cx="1978025" cy="369887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.com DNS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54" name="Text Box 6"/>
          <p:cNvSpPr txBox="1">
            <a:spLocks noChangeArrowheads="1"/>
          </p:cNvSpPr>
          <p:nvPr/>
        </p:nvSpPr>
        <p:spPr bwMode="auto">
          <a:xfrm>
            <a:off x="6804025" y="3068638"/>
            <a:ext cx="1920875" cy="369887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.edu DNS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55" name="Text Box 7"/>
          <p:cNvSpPr txBox="1">
            <a:spLocks noChangeArrowheads="1"/>
          </p:cNvSpPr>
          <p:nvPr/>
        </p:nvSpPr>
        <p:spPr bwMode="auto">
          <a:xfrm>
            <a:off x="4572000" y="3068638"/>
            <a:ext cx="1757363" cy="369887"/>
          </a:xfrm>
          <a:prstGeom prst="rect">
            <a:avLst/>
          </a:prstGeom>
          <a:solidFill>
            <a:srgbClr val="FFC0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.cn DNS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56" name="Text Box 8"/>
          <p:cNvSpPr txBox="1">
            <a:spLocks noChangeArrowheads="1"/>
          </p:cNvSpPr>
          <p:nvPr/>
        </p:nvSpPr>
        <p:spPr bwMode="auto">
          <a:xfrm>
            <a:off x="2051050" y="4149725"/>
            <a:ext cx="1408113" cy="6461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yahoo.com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59" name="Text Box 11"/>
          <p:cNvSpPr txBox="1">
            <a:spLocks noChangeArrowheads="1"/>
          </p:cNvSpPr>
          <p:nvPr/>
        </p:nvSpPr>
        <p:spPr bwMode="auto">
          <a:xfrm>
            <a:off x="7451725" y="4149725"/>
            <a:ext cx="1362075" cy="650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umass.edu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60" name="Text Box 12"/>
          <p:cNvSpPr txBox="1">
            <a:spLocks noChangeArrowheads="1"/>
          </p:cNvSpPr>
          <p:nvPr/>
        </p:nvSpPr>
        <p:spPr bwMode="auto">
          <a:xfrm>
            <a:off x="3922713" y="4149725"/>
            <a:ext cx="1362075" cy="650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edu.cn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61" name="Text Box 13"/>
          <p:cNvSpPr txBox="1">
            <a:spLocks noChangeArrowheads="1"/>
          </p:cNvSpPr>
          <p:nvPr/>
        </p:nvSpPr>
        <p:spPr bwMode="auto">
          <a:xfrm>
            <a:off x="5795963" y="4149725"/>
            <a:ext cx="1362075" cy="65087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com.cn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62" name="Line 14"/>
          <p:cNvSpPr>
            <a:spLocks noChangeShapeType="1"/>
          </p:cNvSpPr>
          <p:nvPr/>
        </p:nvSpPr>
        <p:spPr bwMode="auto">
          <a:xfrm>
            <a:off x="5364163" y="2492375"/>
            <a:ext cx="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63" name="Line 15"/>
          <p:cNvSpPr>
            <a:spLocks noChangeShapeType="1"/>
          </p:cNvSpPr>
          <p:nvPr/>
        </p:nvSpPr>
        <p:spPr bwMode="auto">
          <a:xfrm>
            <a:off x="2987675" y="2708275"/>
            <a:ext cx="48244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64" name="Line 16"/>
          <p:cNvSpPr>
            <a:spLocks noChangeShapeType="1"/>
          </p:cNvSpPr>
          <p:nvPr/>
        </p:nvSpPr>
        <p:spPr bwMode="auto">
          <a:xfrm>
            <a:off x="2987675" y="27082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65" name="Line 17"/>
          <p:cNvSpPr>
            <a:spLocks noChangeShapeType="1"/>
          </p:cNvSpPr>
          <p:nvPr/>
        </p:nvSpPr>
        <p:spPr bwMode="auto">
          <a:xfrm>
            <a:off x="5364163" y="27082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66" name="Line 18"/>
          <p:cNvSpPr>
            <a:spLocks noChangeShapeType="1"/>
          </p:cNvSpPr>
          <p:nvPr/>
        </p:nvSpPr>
        <p:spPr bwMode="auto">
          <a:xfrm>
            <a:off x="7812088" y="2708275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67" name="Line 19"/>
          <p:cNvSpPr>
            <a:spLocks noChangeShapeType="1"/>
          </p:cNvSpPr>
          <p:nvPr/>
        </p:nvSpPr>
        <p:spPr bwMode="auto">
          <a:xfrm>
            <a:off x="2987675" y="3429000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68" name="Line 20"/>
          <p:cNvSpPr>
            <a:spLocks noChangeShapeType="1"/>
          </p:cNvSpPr>
          <p:nvPr/>
        </p:nvSpPr>
        <p:spPr bwMode="auto">
          <a:xfrm>
            <a:off x="7812088" y="3429000"/>
            <a:ext cx="0" cy="720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69" name="Line 21"/>
          <p:cNvSpPr>
            <a:spLocks noChangeShapeType="1"/>
          </p:cNvSpPr>
          <p:nvPr/>
        </p:nvSpPr>
        <p:spPr bwMode="auto">
          <a:xfrm>
            <a:off x="4572000" y="3789363"/>
            <a:ext cx="1943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70" name="Line 22"/>
          <p:cNvSpPr>
            <a:spLocks noChangeShapeType="1"/>
          </p:cNvSpPr>
          <p:nvPr/>
        </p:nvSpPr>
        <p:spPr bwMode="auto">
          <a:xfrm>
            <a:off x="4572000" y="378936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71" name="Line 23"/>
          <p:cNvSpPr>
            <a:spLocks noChangeShapeType="1"/>
          </p:cNvSpPr>
          <p:nvPr/>
        </p:nvSpPr>
        <p:spPr bwMode="auto">
          <a:xfrm>
            <a:off x="6515100" y="3789363"/>
            <a:ext cx="0" cy="3603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72" name="Line 24"/>
          <p:cNvSpPr>
            <a:spLocks noChangeShapeType="1"/>
          </p:cNvSpPr>
          <p:nvPr/>
        </p:nvSpPr>
        <p:spPr bwMode="auto">
          <a:xfrm>
            <a:off x="5364163" y="3429000"/>
            <a:ext cx="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73" name="Text Box 25"/>
          <p:cNvSpPr txBox="1">
            <a:spLocks noChangeArrowheads="1"/>
          </p:cNvSpPr>
          <p:nvPr/>
        </p:nvSpPr>
        <p:spPr bwMode="auto">
          <a:xfrm>
            <a:off x="3916363" y="5300663"/>
            <a:ext cx="1455737" cy="6461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hust.edu.cn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74" name="Text Box 26"/>
          <p:cNvSpPr txBox="1">
            <a:spLocks noChangeArrowheads="1"/>
          </p:cNvSpPr>
          <p:nvPr/>
        </p:nvSpPr>
        <p:spPr bwMode="auto">
          <a:xfrm>
            <a:off x="5722938" y="5299075"/>
            <a:ext cx="1657350" cy="646113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baidu.com.cn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en-US" altLang="zh-CN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75" name="Line 27"/>
          <p:cNvSpPr>
            <a:spLocks noChangeShapeType="1"/>
          </p:cNvSpPr>
          <p:nvPr/>
        </p:nvSpPr>
        <p:spPr bwMode="auto">
          <a:xfrm>
            <a:off x="4572000" y="4797425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76" name="Line 28"/>
          <p:cNvSpPr>
            <a:spLocks noChangeShapeType="1"/>
          </p:cNvSpPr>
          <p:nvPr/>
        </p:nvSpPr>
        <p:spPr bwMode="auto">
          <a:xfrm>
            <a:off x="6515100" y="4797425"/>
            <a:ext cx="0" cy="5032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2477" name="Text Box 29"/>
          <p:cNvSpPr txBox="1">
            <a:spLocks noChangeArrowheads="1"/>
          </p:cNvSpPr>
          <p:nvPr/>
        </p:nvSpPr>
        <p:spPr bwMode="auto">
          <a:xfrm>
            <a:off x="250825" y="2133600"/>
            <a:ext cx="1604963" cy="3698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78" name="Text Box 30"/>
          <p:cNvSpPr txBox="1">
            <a:spLocks noChangeArrowheads="1"/>
          </p:cNvSpPr>
          <p:nvPr/>
        </p:nvSpPr>
        <p:spPr bwMode="auto">
          <a:xfrm>
            <a:off x="250825" y="2997200"/>
            <a:ext cx="1547813" cy="641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顶级域（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TLD</a:t>
            </a:r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479" name="Text Box 31"/>
          <p:cNvSpPr txBox="1">
            <a:spLocks noChangeArrowheads="1"/>
          </p:cNvSpPr>
          <p:nvPr/>
        </p:nvSpPr>
        <p:spPr bwMode="auto">
          <a:xfrm>
            <a:off x="323850" y="4149725"/>
            <a:ext cx="1143000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权威</a:t>
            </a:r>
            <a:r>
              <a:rPr lang="en-US" altLang="zh-CN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DNS</a:t>
            </a:r>
            <a:endParaRPr lang="en-US" altLang="zh-CN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</a:t>
            </a:r>
            <a:endParaRPr lang="zh-CN" altLang="en-US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286" name="Rectangle 2"/>
          <p:cNvSpPr>
            <a:spLocks noChangeArrowheads="1"/>
          </p:cNvSpPr>
          <p:nvPr/>
        </p:nvSpPr>
        <p:spPr bwMode="auto">
          <a:xfrm>
            <a:off x="0" y="71438"/>
            <a:ext cx="3357563" cy="40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 DNS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：因特网的目录服务</a:t>
            </a:r>
            <a:endParaRPr lang="en-US" alt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2"/>
          <p:cNvSpPr txBox="1">
            <a:spLocks noChangeArrowheads="1"/>
          </p:cNvSpPr>
          <p:nvPr/>
        </p:nvSpPr>
        <p:spPr bwMode="white">
          <a:xfrm>
            <a:off x="1571625" y="642938"/>
            <a:ext cx="6172200" cy="5381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域名系统</a:t>
            </a:r>
            <a:endParaRPr lang="zh-CN" altLang="en-US" sz="2400" b="1" kern="0" dirty="0"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2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32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3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23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3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3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32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500"/>
                            </p:stCondLst>
                            <p:childTnLst>
                              <p:par>
                                <p:cTn id="4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23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3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23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0" dur="500"/>
                                        <p:tgtEl>
                                          <p:spTgt spid="232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4" dur="500"/>
                                        <p:tgtEl>
                                          <p:spTgt spid="23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32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23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23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500"/>
                            </p:stCondLst>
                            <p:childTnLst>
                              <p:par>
                                <p:cTn id="7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23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000"/>
                            </p:stCondLst>
                            <p:childTnLst>
                              <p:par>
                                <p:cTn id="8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4" dur="500"/>
                                        <p:tgtEl>
                                          <p:spTgt spid="23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4500"/>
                            </p:stCondLst>
                            <p:childTnLst>
                              <p:par>
                                <p:cTn id="8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232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0"/>
                            </p:stCondLst>
                            <p:childTnLst>
                              <p:par>
                                <p:cTn id="90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232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6" dur="500"/>
                                        <p:tgtEl>
                                          <p:spTgt spid="232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000"/>
                            </p:stCondLst>
                            <p:childTnLst>
                              <p:par>
                                <p:cTn id="9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0" dur="500"/>
                                        <p:tgtEl>
                                          <p:spTgt spid="232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500"/>
                            </p:stCondLst>
                            <p:childTnLst>
                              <p:par>
                                <p:cTn id="10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4" dur="500"/>
                                        <p:tgtEl>
                                          <p:spTgt spid="232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000"/>
                            </p:stCondLst>
                            <p:childTnLst>
                              <p:par>
                                <p:cTn id="10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8" dur="500"/>
                                        <p:tgtEl>
                                          <p:spTgt spid="23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2" grpId="0" animBg="1"/>
      <p:bldP spid="232453" grpId="0" animBg="1"/>
      <p:bldP spid="232454" grpId="0" animBg="1"/>
      <p:bldP spid="232455" grpId="0" animBg="1"/>
      <p:bldP spid="232456" grpId="0" animBg="1"/>
      <p:bldP spid="232459" grpId="0" animBg="1"/>
      <p:bldP spid="232460" grpId="0" animBg="1"/>
      <p:bldP spid="232461" grpId="0" animBg="1"/>
      <p:bldP spid="232462" grpId="0" animBg="1"/>
      <p:bldP spid="232463" grpId="0" animBg="1"/>
      <p:bldP spid="232464" grpId="0" animBg="1"/>
      <p:bldP spid="232465" grpId="0" animBg="1"/>
      <p:bldP spid="232466" grpId="0" animBg="1"/>
      <p:bldP spid="232467" grpId="0" animBg="1"/>
      <p:bldP spid="232468" grpId="0" animBg="1"/>
      <p:bldP spid="232469" grpId="0" animBg="1"/>
      <p:bldP spid="232470" grpId="0" animBg="1"/>
      <p:bldP spid="232471" grpId="0" animBg="1"/>
      <p:bldP spid="232472" grpId="0" animBg="1"/>
      <p:bldP spid="232473" grpId="0" animBg="1"/>
      <p:bldP spid="232474" grpId="0" animBg="1"/>
      <p:bldP spid="232475" grpId="0" animBg="1"/>
      <p:bldP spid="232476" grpId="0" animBg="1"/>
      <p:bldP spid="232477" grpId="0"/>
      <p:bldP spid="232478" grpId="0"/>
      <p:bldP spid="23247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DNS</a:t>
            </a:r>
            <a:r>
              <a:rPr lang="zh-CN" altLang="en-US" dirty="0"/>
              <a:t>区域和权威域名服务器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6738" y="1752600"/>
            <a:ext cx="8325742" cy="2396480"/>
          </a:xfrm>
        </p:spPr>
        <p:txBody>
          <a:bodyPr/>
          <a:lstStyle/>
          <a:p>
            <a:r>
              <a:rPr lang="zh-CN" altLang="en-US" dirty="0"/>
              <a:t>一个</a:t>
            </a:r>
            <a:r>
              <a:rPr lang="en-US" altLang="zh-CN" dirty="0"/>
              <a:t>DNS</a:t>
            </a:r>
            <a:r>
              <a:rPr lang="zh-CN" altLang="en-US" dirty="0"/>
              <a:t>区域把树状域内临近的域名和子域组织起来，并将管理权限分配给实体。</a:t>
            </a:r>
            <a:endParaRPr lang="en-US" altLang="zh-CN" dirty="0"/>
          </a:p>
          <a:p>
            <a:pPr lvl="1"/>
            <a:r>
              <a:rPr lang="zh-CN" altLang="en-US" dirty="0"/>
              <a:t>例如：</a:t>
            </a:r>
            <a:r>
              <a:rPr lang="en-US" altLang="zh-CN" dirty="0"/>
              <a:t>example.com</a:t>
            </a:r>
            <a:r>
              <a:rPr lang="zh-CN" altLang="en-US" dirty="0"/>
              <a:t>是一个国际企业，有很多子域名：</a:t>
            </a:r>
            <a:r>
              <a:rPr lang="en-US" altLang="zh-CN" dirty="0"/>
              <a:t>usa.example.com</a:t>
            </a:r>
            <a:r>
              <a:rPr lang="zh-CN" altLang="en-US" dirty="0"/>
              <a:t>、</a:t>
            </a:r>
            <a:r>
              <a:rPr lang="en-US" altLang="zh-CN" dirty="0"/>
              <a:t>uk.example.com</a:t>
            </a:r>
            <a:endParaRPr lang="en-US" altLang="zh-CN" dirty="0"/>
          </a:p>
          <a:p>
            <a:pPr marL="471170" lvl="1" indent="0">
              <a:buNone/>
            </a:pPr>
            <a:endParaRPr lang="zh-CN" altLang="en-US" dirty="0"/>
          </a:p>
        </p:txBody>
      </p:sp>
      <p:sp>
        <p:nvSpPr>
          <p:cNvPr id="4" name="椭圆 3"/>
          <p:cNvSpPr/>
          <p:nvPr/>
        </p:nvSpPr>
        <p:spPr>
          <a:xfrm>
            <a:off x="2946308" y="3789040"/>
            <a:ext cx="1800200" cy="792088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区域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example.com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570044" y="4437112"/>
            <a:ext cx="2376264" cy="1152128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区域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usa.example.com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chicago</a:t>
            </a:r>
            <a:r>
              <a:rPr lang="en-US" altLang="zh-CN" sz="1200" dirty="0">
                <a:solidFill>
                  <a:schemeClr val="tx1"/>
                </a:solidFill>
              </a:rPr>
              <a:t>  </a:t>
            </a:r>
            <a:r>
              <a:rPr lang="en-US" altLang="zh-CN" sz="1200" dirty="0" err="1">
                <a:solidFill>
                  <a:schemeClr val="tx1"/>
                </a:solidFill>
              </a:rPr>
              <a:t>boston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1434140" y="5040526"/>
            <a:ext cx="216024" cy="21602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866188" y="5040526"/>
            <a:ext cx="288032" cy="21602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椭圆 9"/>
          <p:cNvSpPr/>
          <p:nvPr/>
        </p:nvSpPr>
        <p:spPr>
          <a:xfrm>
            <a:off x="3690411" y="4859937"/>
            <a:ext cx="2066336" cy="936104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区域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uk.example.com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2152961" y="5681464"/>
            <a:ext cx="2232248" cy="936104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区域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nyc.example.com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246379" y="5080857"/>
            <a:ext cx="1022706" cy="86842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2154220" y="4432785"/>
            <a:ext cx="1584176" cy="36436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945824" y="4437112"/>
            <a:ext cx="439385" cy="74462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5954822" y="5013176"/>
            <a:ext cx="2505609" cy="820904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区域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france.example.com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256156" y="4432785"/>
            <a:ext cx="2548092" cy="811735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297482" y="3652902"/>
            <a:ext cx="35949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每个</a:t>
            </a:r>
            <a:r>
              <a:rPr lang="en-US" altLang="zh-CN" sz="2000" b="1" dirty="0">
                <a:solidFill>
                  <a:srgbClr val="FF0000"/>
                </a:solidFill>
              </a:rPr>
              <a:t>DNS</a:t>
            </a:r>
            <a:r>
              <a:rPr lang="zh-CN" altLang="en-US" sz="2000" b="1" dirty="0">
                <a:solidFill>
                  <a:srgbClr val="FF0000"/>
                </a:solidFill>
              </a:rPr>
              <a:t>区域至少有一个权威域名服务器，每个权威域名服务器可以维护多个区域记录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</a:t>
            </a:r>
            <a:r>
              <a:rPr lang="en-US" altLang="zh-CN" dirty="0"/>
              <a:t>DNS</a:t>
            </a:r>
            <a:r>
              <a:rPr lang="zh-CN" altLang="en-US" dirty="0"/>
              <a:t>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30" y="1844824"/>
            <a:ext cx="8067708" cy="36043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DNS</a:t>
            </a:r>
            <a:r>
              <a:rPr lang="zh-CN" altLang="en-US" dirty="0"/>
              <a:t>迭代查询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查询</a:t>
            </a:r>
            <a:r>
              <a:rPr lang="en-US" altLang="zh-CN" dirty="0"/>
              <a:t>www.example.net</a:t>
            </a:r>
            <a:endParaRPr lang="en-US" altLang="zh-CN" dirty="0"/>
          </a:p>
          <a:p>
            <a:pPr lvl="1"/>
            <a:r>
              <a:rPr lang="zh-CN" altLang="en-US" dirty="0"/>
              <a:t>查询根域名服务器</a:t>
            </a:r>
            <a:endParaRPr lang="en-US" altLang="zh-CN" dirty="0"/>
          </a:p>
          <a:p>
            <a:pPr lvl="1"/>
            <a:r>
              <a:rPr lang="zh-CN" altLang="en-US" dirty="0"/>
              <a:t>查询</a:t>
            </a:r>
            <a:r>
              <a:rPr lang="en-US" altLang="zh-CN" dirty="0" err="1"/>
              <a:t>.net</a:t>
            </a:r>
            <a:r>
              <a:rPr lang="zh-CN" altLang="en-US" dirty="0"/>
              <a:t>域名服务器</a:t>
            </a:r>
            <a:endParaRPr lang="en-US" altLang="zh-CN" dirty="0"/>
          </a:p>
          <a:p>
            <a:pPr lvl="1"/>
            <a:r>
              <a:rPr lang="zh-CN" altLang="en-US" dirty="0"/>
              <a:t>查询</a:t>
            </a:r>
            <a:r>
              <a:rPr lang="en-US" altLang="zh-CN" dirty="0"/>
              <a:t>.example.net</a:t>
            </a:r>
            <a:r>
              <a:rPr lang="zh-CN" altLang="en-US" dirty="0"/>
              <a:t>域名服务器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DNS</a:t>
            </a:r>
            <a:r>
              <a:rPr lang="zh-CN" altLang="en-US" dirty="0"/>
              <a:t>根域名服务器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1772816"/>
            <a:ext cx="7704856" cy="403860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DNS</a:t>
            </a:r>
            <a:r>
              <a:rPr lang="zh-CN" altLang="en-US" dirty="0"/>
              <a:t>查询举例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276" y="2348908"/>
            <a:ext cx="8696972" cy="320036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91216" y="2431905"/>
            <a:ext cx="46805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dig @a.root-servers.net www.example.net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4283968" y="4077072"/>
            <a:ext cx="194421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4189580" y="3682602"/>
            <a:ext cx="2421024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m.gtld-servers.net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4615" y="1775939"/>
            <a:ext cx="2880320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1"/>
            <a:r>
              <a:rPr lang="zh-CN" altLang="en-US" sz="2000" b="1" dirty="0">
                <a:solidFill>
                  <a:srgbClr val="0000FF"/>
                </a:solidFill>
              </a:rPr>
              <a:t>查询根域名服务器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79" y="2961695"/>
            <a:ext cx="8727472" cy="2808312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991216" y="3072258"/>
            <a:ext cx="468052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dig @</a:t>
            </a:r>
            <a:r>
              <a:rPr lang="en-US" altLang="zh-CN" dirty="0">
                <a:solidFill>
                  <a:srgbClr val="FF0000"/>
                </a:solidFill>
              </a:rPr>
              <a:t>m.gtld-servers.net www.example.net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22157" y="1794250"/>
            <a:ext cx="3138117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1"/>
            <a:r>
              <a:rPr lang="zh-CN" altLang="en-US" sz="2000" b="1" dirty="0">
                <a:solidFill>
                  <a:srgbClr val="0000FF"/>
                </a:solidFill>
              </a:rPr>
              <a:t>查询顶级域名服务器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283968" y="4173231"/>
            <a:ext cx="242102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a.iana-servers.net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4331476" y="4589214"/>
            <a:ext cx="1944216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73359" y="1785095"/>
            <a:ext cx="3138117" cy="40011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lvl="1"/>
            <a:r>
              <a:rPr lang="zh-CN" altLang="en-US" sz="2000" b="1" dirty="0">
                <a:solidFill>
                  <a:srgbClr val="0000FF"/>
                </a:solidFill>
              </a:rPr>
              <a:t>查询权威域名服务器</a:t>
            </a:r>
            <a:endParaRPr lang="en-US" altLang="zh-CN" sz="2000" b="1" dirty="0">
              <a:solidFill>
                <a:srgbClr val="0000FF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694" y="4077446"/>
            <a:ext cx="8696972" cy="173149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898090" y="4141558"/>
            <a:ext cx="46805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dig @a.iana-servers.net www.example.net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238350" y="5307235"/>
            <a:ext cx="194421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93.184.216.34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bldLvl="0" animBg="1"/>
      <p:bldP spid="14" grpId="0" bldLvl="0" animBg="1"/>
      <p:bldP spid="21" grpId="0" animBg="1"/>
      <p:bldP spid="15" grpId="0" animBg="1"/>
      <p:bldP spid="22" grpId="0" animBg="1"/>
      <p:bldP spid="17" grpId="0" animBg="1"/>
      <p:bldP spid="1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DNS</a:t>
            </a:r>
            <a:r>
              <a:rPr lang="zh-CN" altLang="en-US" dirty="0"/>
              <a:t>攻击</a:t>
            </a:r>
            <a:endParaRPr lang="zh-CN" altLang="en-US" dirty="0"/>
          </a:p>
        </p:txBody>
      </p:sp>
      <p:sp>
        <p:nvSpPr>
          <p:cNvPr id="100" name="文本框 99"/>
          <p:cNvSpPr txBox="1"/>
          <p:nvPr/>
        </p:nvSpPr>
        <p:spPr>
          <a:xfrm>
            <a:off x="501650" y="1656715"/>
            <a:ext cx="7979410" cy="193899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攻击用户主机：修改</a:t>
            </a:r>
            <a:r>
              <a:rPr lang="en-US" altLang="zh-CN" sz="2400" b="1" dirty="0"/>
              <a:t>/</a:t>
            </a:r>
            <a:r>
              <a:rPr lang="en-US" altLang="zh-CN" sz="2400" b="1" dirty="0" err="1"/>
              <a:t>etc</a:t>
            </a:r>
            <a:r>
              <a:rPr lang="en-US" altLang="zh-CN" sz="2400" b="1" dirty="0"/>
              <a:t>/hosts</a:t>
            </a:r>
            <a:r>
              <a:rPr lang="zh-CN" altLang="en-US" sz="2400" b="1" dirty="0"/>
              <a:t>，或</a:t>
            </a:r>
            <a:r>
              <a:rPr lang="en-US" altLang="zh-CN" sz="2400" b="1" dirty="0"/>
              <a:t>/</a:t>
            </a:r>
            <a:r>
              <a:rPr lang="en-US" altLang="zh-CN" sz="2400" b="1" dirty="0" err="1"/>
              <a:t>etc</a:t>
            </a:r>
            <a:r>
              <a:rPr lang="en-US" altLang="zh-CN" sz="2400" b="1" dirty="0"/>
              <a:t>/</a:t>
            </a:r>
            <a:r>
              <a:rPr lang="en-US" altLang="zh-CN" sz="2400" b="1" dirty="0" err="1"/>
              <a:t>resolv.conf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sz="2400" b="1" dirty="0">
                <a:ea typeface="宋体" panose="02010600030101010101" pitchFamily="2" charset="-122"/>
              </a:rPr>
              <a:t>欺骗用户响应：伪造来自服务器的响应包，在真的服务器响应到达用户主机之前</a:t>
            </a:r>
            <a:endParaRPr lang="zh-CN" sz="2400" b="1" dirty="0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>
                <a:ea typeface="宋体" panose="02010600030101010101" pitchFamily="2" charset="-122"/>
              </a:rPr>
              <a:t>DNS</a:t>
            </a:r>
            <a:r>
              <a:rPr lang="zh-CN" altLang="en-US" sz="2400" b="1" dirty="0">
                <a:ea typeface="宋体" panose="02010600030101010101" pitchFamily="2" charset="-122"/>
              </a:rPr>
              <a:t>缓存中毒攻击：伪装其它服务器到服务器的响应，毒化服务器缓存（可以用公网上的域名测试，如</a:t>
            </a:r>
            <a:r>
              <a:rPr lang="en-US" altLang="zh-CN" sz="2400" b="1" dirty="0" err="1">
                <a:ea typeface="宋体" panose="02010600030101010101" pitchFamily="2" charset="-122"/>
              </a:rPr>
              <a:t>baidu</a:t>
            </a:r>
            <a:r>
              <a:rPr lang="zh-CN" altLang="en-US" sz="2400" b="1" dirty="0">
                <a:ea typeface="宋体" panose="02010600030101010101" pitchFamily="2" charset="-122"/>
              </a:rPr>
              <a:t>）</a:t>
            </a:r>
            <a:endParaRPr lang="zh-CN" altLang="en-US" sz="2400" b="1" dirty="0">
              <a:ea typeface="宋体" panose="02010600030101010101" pitchFamily="2" charset="-122"/>
            </a:endParaRPr>
          </a:p>
        </p:txBody>
      </p:sp>
      <p:pic>
        <p:nvPicPr>
          <p:cNvPr id="16" name="图片 1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76592" y="3495675"/>
            <a:ext cx="7629525" cy="3362325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2483768" y="3140968"/>
            <a:ext cx="720080" cy="1196102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2699792" y="2420888"/>
            <a:ext cx="2761234" cy="1916182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2771800" y="1988840"/>
            <a:ext cx="4464496" cy="2229961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伪造域名服务器的</a:t>
            </a:r>
            <a:r>
              <a:rPr lang="zh-CN" altLang="en-US"/>
              <a:t>响应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7055" y="1752600"/>
            <a:ext cx="8001000" cy="1676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成功的</a:t>
            </a:r>
            <a:r>
              <a:rPr lang="zh-CN" altLang="en-US" dirty="0"/>
              <a:t>关键：</a:t>
            </a:r>
            <a:endParaRPr lang="zh-CN" altLang="en-US" dirty="0"/>
          </a:p>
          <a:p>
            <a:r>
              <a:rPr lang="zh-CN" altLang="en-US" dirty="0"/>
              <a:t>正确的</a:t>
            </a:r>
            <a:r>
              <a:rPr lang="zh-CN" altLang="en-US" dirty="0">
                <a:solidFill>
                  <a:srgbClr val="FF0000"/>
                </a:solidFill>
              </a:rPr>
              <a:t>事务</a:t>
            </a:r>
            <a:r>
              <a:rPr lang="en-US" altLang="zh-CN" dirty="0">
                <a:solidFill>
                  <a:srgbClr val="FF0000"/>
                </a:solidFill>
              </a:rPr>
              <a:t>ID</a:t>
            </a:r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Transaction ID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  <a:p>
            <a:r>
              <a:rPr lang="zh-CN" altLang="en-US" dirty="0"/>
              <a:t>正确的</a:t>
            </a:r>
            <a:r>
              <a:rPr lang="en-US" altLang="zh-CN" dirty="0">
                <a:solidFill>
                  <a:srgbClr val="FF0000"/>
                </a:solidFill>
              </a:rPr>
              <a:t>目标端</a:t>
            </a:r>
            <a:r>
              <a:rPr lang="zh-CN" altLang="en-US" dirty="0">
                <a:solidFill>
                  <a:srgbClr val="FF0000"/>
                </a:solidFill>
              </a:rPr>
              <a:t>口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3492500"/>
            <a:ext cx="5064125" cy="267716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188085" y="4725035"/>
            <a:ext cx="1224280" cy="279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300470" y="4437380"/>
            <a:ext cx="181165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 kern="0" dirty="0">
                <a:solidFill>
                  <a:srgbClr val="FF0000"/>
                </a:solidFill>
                <a:latin typeface="+mn-lt"/>
                <a:ea typeface="+mn-ea"/>
                <a:sym typeface="+mn-ea"/>
              </a:rPr>
              <a:t>网络嗅探</a:t>
            </a:r>
            <a:endParaRPr lang="zh-CN" altLang="en-US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8" name="内容占位符 2"/>
          <p:cNvSpPr>
            <a:spLocks noGrp="1"/>
          </p:cNvSpPr>
          <p:nvPr/>
        </p:nvSpPr>
        <p:spPr>
          <a:xfrm>
            <a:off x="4211955" y="2853055"/>
            <a:ext cx="3583305" cy="53213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469900" indent="-469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88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304925" indent="-39560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69418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94230" indent="-398780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514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30086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658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923030" indent="-398780" algn="l" rtl="0" eaLnBrk="1" fontAlgn="base" hangingPunct="1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dirty="0">
                <a:solidFill>
                  <a:srgbClr val="FF0000"/>
                </a:solidFill>
              </a:rPr>
              <a:t>快速</a:t>
            </a:r>
            <a:r>
              <a:rPr lang="zh-CN" altLang="en-US" dirty="0"/>
              <a:t>响应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DNS</a:t>
            </a:r>
            <a:r>
              <a:rPr lang="zh-CN" altLang="en-US"/>
              <a:t>本地攻击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9560" y="1772920"/>
            <a:ext cx="8627745" cy="4267200"/>
          </a:xfrm>
        </p:spPr>
        <p:txBody>
          <a:bodyPr/>
          <a:lstStyle/>
          <a:p>
            <a:r>
              <a:rPr lang="zh-CN" altLang="en-US" dirty="0"/>
              <a:t>攻击者和用户机或本地</a:t>
            </a:r>
            <a:r>
              <a:rPr lang="en-US" altLang="zh-CN" dirty="0"/>
              <a:t>DNS</a:t>
            </a:r>
            <a:r>
              <a:rPr lang="zh-CN" altLang="en-US" dirty="0"/>
              <a:t>服务器同一</a:t>
            </a:r>
            <a:r>
              <a:rPr lang="en-US" altLang="zh-CN" dirty="0"/>
              <a:t>LAN</a:t>
            </a:r>
            <a:r>
              <a:rPr lang="zh-CN" altLang="en-US" dirty="0"/>
              <a:t>，攻击者</a:t>
            </a:r>
            <a:r>
              <a:rPr lang="zh-CN" altLang="en-US" dirty="0">
                <a:solidFill>
                  <a:srgbClr val="FF0000"/>
                </a:solidFill>
              </a:rPr>
              <a:t>可以嗅探网络流量</a:t>
            </a:r>
            <a:endParaRPr lang="en-US" altLang="zh-CN" dirty="0"/>
          </a:p>
          <a:p>
            <a:r>
              <a:rPr lang="zh-CN" altLang="en-US" dirty="0"/>
              <a:t>攻击用户主机，欺骗用户响应</a:t>
            </a:r>
            <a:endParaRPr lang="zh-CN" altLang="en-US" dirty="0"/>
          </a:p>
          <a:p>
            <a:pPr lvl="1"/>
            <a:r>
              <a:rPr lang="en-US" altLang="zh-CN" dirty="0" err="1"/>
              <a:t>netwox</a:t>
            </a:r>
            <a:r>
              <a:rPr lang="en-US" altLang="zh-CN" dirty="0"/>
              <a:t> 105</a:t>
            </a:r>
            <a:endParaRPr lang="en-US" altLang="zh-CN" dirty="0"/>
          </a:p>
          <a:p>
            <a:pPr marL="471170" lvl="1" indent="0"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（建议欺骗外网的域名，不要用</a:t>
            </a:r>
            <a:r>
              <a:rPr lang="en-US" altLang="zh-CN" sz="2400" dirty="0">
                <a:solidFill>
                  <a:srgbClr val="FF0000"/>
                </a:solidFill>
              </a:rPr>
              <a:t>www.example.com)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0"/>
            <a:r>
              <a:rPr lang="zh-CN" altLang="en-US" dirty="0"/>
              <a:t>攻击</a:t>
            </a:r>
            <a:r>
              <a:rPr lang="en-US" altLang="zh-CN" dirty="0"/>
              <a:t>DNS</a:t>
            </a:r>
            <a:r>
              <a:rPr lang="zh-CN" altLang="en-US" dirty="0"/>
              <a:t>服务器，</a:t>
            </a:r>
            <a:r>
              <a:rPr lang="en-US" altLang="zh-CN" dirty="0"/>
              <a:t>DNS</a:t>
            </a:r>
            <a:r>
              <a:rPr lang="zh-CN" altLang="en-US" dirty="0"/>
              <a:t>缓存中毒攻击</a:t>
            </a:r>
            <a:endParaRPr lang="zh-CN" altLang="en-US" dirty="0"/>
          </a:p>
          <a:p>
            <a:pPr lvl="1"/>
            <a:r>
              <a:rPr lang="en-US" altLang="zh-CN" dirty="0" err="1"/>
              <a:t>netwox</a:t>
            </a:r>
            <a:r>
              <a:rPr lang="en-US" altLang="zh-CN" dirty="0"/>
              <a:t> 105</a:t>
            </a:r>
            <a:endParaRPr lang="en-US" altLang="zh-CN" dirty="0"/>
          </a:p>
          <a:p>
            <a:pPr lvl="1"/>
            <a:r>
              <a:rPr lang="en-US" altLang="zh-CN" dirty="0" err="1"/>
              <a:t>scapy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</a:t>
            </a:r>
            <a:r>
              <a:rPr lang="en-US" altLang="zh-CN" dirty="0"/>
              <a:t>DNS</a:t>
            </a:r>
            <a:r>
              <a:rPr lang="zh-CN" altLang="en-US" dirty="0"/>
              <a:t>报文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02" y="1772816"/>
            <a:ext cx="8035037" cy="4248472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Scapy</a:t>
            </a:r>
            <a:r>
              <a:rPr lang="zh-CN" altLang="en-US" dirty="0"/>
              <a:t>构造</a:t>
            </a:r>
            <a:r>
              <a:rPr lang="en-US" altLang="zh-CN" dirty="0"/>
              <a:t>DNS</a:t>
            </a:r>
            <a:r>
              <a:rPr lang="zh-CN" altLang="en-US" dirty="0"/>
              <a:t>报文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27710" y="1752600"/>
            <a:ext cx="7663815" cy="42672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Scapy</a:t>
            </a:r>
            <a:r>
              <a:rPr lang="zh-CN" altLang="en-US" dirty="0"/>
              <a:t>构造</a:t>
            </a:r>
            <a:r>
              <a:rPr lang="en-US" altLang="zh-CN" dirty="0"/>
              <a:t>DNS</a:t>
            </a:r>
            <a:r>
              <a:rPr lang="zh-CN" altLang="en-US" dirty="0"/>
              <a:t>报文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59697" y="1774016"/>
            <a:ext cx="6150226" cy="4319280"/>
          </a:xfr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DNS</a:t>
            </a:r>
            <a:r>
              <a:rPr lang="zh-CN" altLang="en-US" dirty="0"/>
              <a:t>记录格式</a:t>
            </a:r>
            <a:r>
              <a:rPr lang="en-US" altLang="zh-CN" dirty="0"/>
              <a:t>(RFC 1035)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4674" y="1772816"/>
            <a:ext cx="7813749" cy="4480576"/>
          </a:xfr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scapy</a:t>
            </a:r>
            <a:r>
              <a:rPr lang="zh-CN" altLang="en-US" dirty="0"/>
              <a:t>构造</a:t>
            </a:r>
            <a:r>
              <a:rPr lang="en-US" altLang="zh-CN" dirty="0"/>
              <a:t>DNS</a:t>
            </a:r>
            <a:r>
              <a:rPr lang="zh-CN" altLang="en-US" dirty="0"/>
              <a:t>报文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917065"/>
            <a:ext cx="7930515" cy="395732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scapy</a:t>
            </a:r>
            <a:r>
              <a:rPr lang="zh-CN" altLang="en-US" dirty="0"/>
              <a:t>构造</a:t>
            </a:r>
            <a:r>
              <a:rPr lang="en-US" altLang="zh-CN" dirty="0"/>
              <a:t>DNS</a:t>
            </a:r>
            <a:r>
              <a:rPr lang="zh-CN" altLang="en-US" dirty="0"/>
              <a:t>报文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738" y="1752600"/>
            <a:ext cx="8156913" cy="403244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本地</a:t>
            </a:r>
            <a:r>
              <a:rPr lang="en-US" altLang="zh-CN" dirty="0"/>
              <a:t>DNS</a:t>
            </a:r>
            <a:r>
              <a:rPr lang="zh-CN" altLang="en-US" dirty="0"/>
              <a:t>缓存中毒攻击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576" y="1823826"/>
            <a:ext cx="6912768" cy="4288198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DNS</a:t>
            </a:r>
            <a:r>
              <a:rPr lang="zh-CN" altLang="en-US"/>
              <a:t>远程攻击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68220" y="1597660"/>
            <a:ext cx="4670425" cy="36283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文本框 99"/>
          <p:cNvSpPr txBox="1"/>
          <p:nvPr/>
        </p:nvSpPr>
        <p:spPr>
          <a:xfrm>
            <a:off x="611505" y="5302885"/>
            <a:ext cx="714184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ea typeface="宋体" panose="02010600030101010101" pitchFamily="2" charset="-122"/>
              </a:rPr>
              <a:t>攻击者</a:t>
            </a:r>
            <a:r>
              <a:rPr lang="zh-CN" sz="2400" b="1" dirty="0">
                <a:ea typeface="宋体" panose="02010600030101010101" pitchFamily="2" charset="-122"/>
              </a:rPr>
              <a:t>不能嗅探到</a:t>
            </a:r>
            <a:r>
              <a:rPr lang="en-US" altLang="zh-CN" sz="2400" b="1" dirty="0">
                <a:ea typeface="宋体" panose="02010600030101010101" pitchFamily="2" charset="-122"/>
              </a:rPr>
              <a:t>DNS</a:t>
            </a:r>
            <a:r>
              <a:rPr lang="zh-CN" altLang="en-US" sz="2400" b="1" dirty="0">
                <a:ea typeface="宋体" panose="02010600030101010101" pitchFamily="2" charset="-122"/>
              </a:rPr>
              <a:t>服务器和用户之间的数据</a:t>
            </a:r>
            <a:endParaRPr lang="zh-CN" altLang="en-US" sz="2400" b="1" dirty="0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>
                <a:ea typeface="宋体" panose="02010600030101010101" pitchFamily="2" charset="-122"/>
              </a:rPr>
              <a:t>远程缓存中毒</a:t>
            </a:r>
            <a:endParaRPr lang="zh-CN" altLang="en-US" sz="24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远程缓存中毒</a:t>
            </a:r>
            <a:endParaRPr lang="zh-CN" altLang="en-US"/>
          </a:p>
        </p:txBody>
      </p:sp>
      <p:pic>
        <p:nvPicPr>
          <p:cNvPr id="5" name="图片 5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8265" y="1644650"/>
            <a:ext cx="6076950" cy="46113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椭圆 5"/>
          <p:cNvSpPr/>
          <p:nvPr/>
        </p:nvSpPr>
        <p:spPr>
          <a:xfrm>
            <a:off x="3261360" y="3731260"/>
            <a:ext cx="1296035" cy="70040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102985" y="2420620"/>
            <a:ext cx="2978785" cy="23571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buFont typeface="Arial" panose="020B0604020202020204" pitchFamily="34" charset="0"/>
            </a:pPr>
            <a:endParaRPr lang="zh-CN" altLang="en-US" sz="2400" b="1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400" b="1">
                <a:ea typeface="宋体" panose="02010600030101010101" pitchFamily="2" charset="-122"/>
              </a:rPr>
              <a:t>当</a:t>
            </a:r>
            <a:r>
              <a:rPr lang="en-US" altLang="zh-CN" sz="2400" b="1">
                <a:ea typeface="宋体" panose="02010600030101010101" pitchFamily="2" charset="-122"/>
              </a:rPr>
              <a:t>Apollo</a:t>
            </a:r>
            <a:r>
              <a:rPr lang="zh-CN" altLang="en-US" sz="2400" b="1">
                <a:ea typeface="宋体" panose="02010600030101010101" pitchFamily="2" charset="-122"/>
              </a:rPr>
              <a:t>等待</a:t>
            </a:r>
            <a:r>
              <a:rPr lang="en-US" altLang="zh-CN" sz="2400" b="1">
                <a:ea typeface="宋体" panose="02010600030101010101" pitchFamily="2" charset="-122"/>
              </a:rPr>
              <a:t>example.com DNS</a:t>
            </a:r>
            <a:r>
              <a:rPr lang="zh-CN" altLang="en-US" sz="2400" b="1">
                <a:ea typeface="宋体" panose="02010600030101010101" pitchFamily="2" charset="-122"/>
              </a:rPr>
              <a:t>服务器的应答时，攻击者伪造</a:t>
            </a:r>
            <a:r>
              <a:rPr lang="en-US" altLang="zh-CN" sz="2400" b="1">
                <a:ea typeface="宋体" panose="02010600030101010101" pitchFamily="2" charset="-122"/>
              </a:rPr>
              <a:t>DNS</a:t>
            </a:r>
            <a:r>
              <a:rPr lang="zh-CN" altLang="en-US" sz="2400" b="1">
                <a:ea typeface="宋体" panose="02010600030101010101" pitchFamily="2" charset="-122"/>
              </a:rPr>
              <a:t>响应</a:t>
            </a:r>
            <a:endParaRPr lang="zh-CN" altLang="en-US" sz="2400" b="1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endParaRPr lang="zh-CN" altLang="en-US" sz="2400" b="1">
              <a:ea typeface="宋体" panose="02010600030101010101" pitchFamily="2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b="1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远程缓存中毒</a:t>
            </a:r>
            <a:r>
              <a:rPr lang="en-US" altLang="zh-CN"/>
              <a:t>-</a:t>
            </a:r>
            <a:r>
              <a:rPr lang="zh-CN" altLang="en-US"/>
              <a:t>原理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1315" y="1680845"/>
            <a:ext cx="8324215" cy="450405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远程缓存中毒</a:t>
            </a:r>
            <a:r>
              <a:rPr lang="en-US" altLang="zh-CN"/>
              <a:t>-</a:t>
            </a:r>
            <a:r>
              <a:rPr lang="zh-CN" altLang="en-US"/>
              <a:t>关键点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74675" y="1844675"/>
            <a:ext cx="8378825" cy="38766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难点</a:t>
            </a:r>
            <a:r>
              <a:rPr lang="en-US" altLang="zh-CN" sz="2000" b="1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ea typeface="宋体" panose="02010600030101010101" pitchFamily="2" charset="-122"/>
              </a:rPr>
              <a:t>：伪造的</a:t>
            </a:r>
            <a:r>
              <a:rPr lang="en-US" altLang="zh-CN" sz="2000" b="1" dirty="0">
                <a:ea typeface="宋体" panose="02010600030101010101" pitchFamily="2" charset="-122"/>
              </a:rPr>
              <a:t>DNS</a:t>
            </a:r>
            <a:r>
              <a:rPr lang="zh-CN" altLang="en-US" sz="2000" b="1" dirty="0">
                <a:ea typeface="宋体" panose="02010600030101010101" pitchFamily="2" charset="-122"/>
              </a:rPr>
              <a:t>响应发往哪一个目标端口？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b="1" dirty="0">
                <a:ea typeface="宋体" panose="02010600030101010101" pitchFamily="2" charset="-122"/>
              </a:rPr>
              <a:t>解</a:t>
            </a:r>
            <a:r>
              <a:rPr lang="en-US" altLang="zh-CN" sz="2000" b="1" dirty="0"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ea typeface="宋体" panose="02010600030101010101" pitchFamily="2" charset="-122"/>
              </a:rPr>
              <a:t>决：早期的</a:t>
            </a:r>
            <a:r>
              <a:rPr lang="en-US" altLang="zh-CN" sz="2000" b="1" dirty="0">
                <a:ea typeface="宋体" panose="02010600030101010101" pitchFamily="2" charset="-122"/>
              </a:rPr>
              <a:t>DNS</a:t>
            </a:r>
            <a:r>
              <a:rPr lang="zh-CN" altLang="en-US" sz="2000" b="1" dirty="0">
                <a:ea typeface="宋体" panose="02010600030101010101" pitchFamily="2" charset="-122"/>
              </a:rPr>
              <a:t>服务器之间的查询，源端口固定。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endParaRPr lang="zh-CN" altLang="en-US" sz="2000" b="1" dirty="0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难点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：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事务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ID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是什么？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解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决：快速猜测</a:t>
            </a:r>
            <a:endParaRPr lang="zh-CN" altLang="en-US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endParaRPr lang="zh-CN" altLang="en-US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难点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ea typeface="宋体" panose="02010600030101010101" pitchFamily="2" charset="-122"/>
              </a:rPr>
              <a:t>：缓存效应。查询一旦成功，相关域名对应的</a:t>
            </a:r>
            <a:r>
              <a:rPr lang="en-US" altLang="zh-CN" sz="2000" b="1" dirty="0">
                <a:ea typeface="宋体" panose="02010600030101010101" pitchFamily="2" charset="-122"/>
              </a:rPr>
              <a:t>IP</a:t>
            </a:r>
            <a:r>
              <a:rPr lang="zh-CN" altLang="en-US" sz="2000" b="1" dirty="0">
                <a:ea typeface="宋体" panose="02010600030101010101" pitchFamily="2" charset="-122"/>
              </a:rPr>
              <a:t>地址会被</a:t>
            </a:r>
            <a:r>
              <a:rPr lang="en-US" altLang="zh-CN" sz="2000" b="1" dirty="0">
                <a:ea typeface="宋体" panose="02010600030101010101" pitchFamily="2" charset="-122"/>
              </a:rPr>
              <a:t>DNS</a:t>
            </a:r>
            <a:r>
              <a:rPr lang="zh-CN" altLang="en-US" sz="2000" b="1" dirty="0">
                <a:ea typeface="宋体" panose="02010600030101010101" pitchFamily="2" charset="-122"/>
              </a:rPr>
              <a:t>服务器缓存，之后在有相关查询则从缓存中查询后直接</a:t>
            </a:r>
            <a:r>
              <a:rPr lang="zh-CN" altLang="en-US" sz="2000" b="1" dirty="0">
                <a:ea typeface="宋体" panose="02010600030101010101" pitchFamily="2" charset="-122"/>
              </a:rPr>
              <a:t>返回。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b="1" dirty="0">
                <a:ea typeface="宋体" panose="02010600030101010101" pitchFamily="2" charset="-122"/>
              </a:rPr>
              <a:t>解</a:t>
            </a:r>
            <a:r>
              <a:rPr lang="en-US" altLang="zh-CN" sz="2000" b="1" dirty="0"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ea typeface="宋体" panose="02010600030101010101" pitchFamily="2" charset="-122"/>
              </a:rPr>
              <a:t>决：Kaminsky攻击，查询同一个域中包含不同</a:t>
            </a:r>
            <a:r>
              <a:rPr lang="zh-CN" altLang="en-US" sz="2000" b="1" dirty="0">
                <a:ea typeface="宋体" panose="02010600030101010101" pitchFamily="2" charset="-122"/>
              </a:rPr>
              <a:t>子名字的域名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endParaRPr lang="zh-CN" altLang="en-US" sz="2000" b="1" dirty="0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难点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：真实的响应比伪造的响应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更快。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解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决：此实验可能需要尝试多次才能成功一次</a:t>
            </a:r>
            <a:endParaRPr lang="zh-CN" altLang="en-US" sz="2000" b="1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远程缓存中毒</a:t>
            </a:r>
            <a:r>
              <a:rPr lang="en-US" altLang="zh-CN"/>
              <a:t>-Kaminsky</a:t>
            </a:r>
            <a:r>
              <a:rPr lang="zh-CN" altLang="en-US"/>
              <a:t>攻击</a:t>
            </a:r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705" y="1701165"/>
            <a:ext cx="3348355" cy="23723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71240" y="1772920"/>
            <a:ext cx="5537200" cy="2399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、攻击者向</a:t>
            </a: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Apollo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查询</a:t>
            </a: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xx.example.com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、攻击者向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Apollo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发送伪造的响应。该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DNS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响应需要快速变更事务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ID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，多次发送。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、查看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Apollo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中的记录，是否存在类似的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缓存记录以确定攻击是否成功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71240" y="4799330"/>
            <a:ext cx="553720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4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、若未成功，随机变化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“x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xx”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，重复步骤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。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4475" y="4149725"/>
            <a:ext cx="8636635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example.com.   172800   IN   NS   ns.dnslabattacker.net</a:t>
            </a:r>
            <a:endParaRPr lang="zh-CN" altLang="en-US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9750" y="5805170"/>
            <a:ext cx="804608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实验之前一定看清楚测评的要求，实验成功以后及时提交测评</a:t>
            </a:r>
            <a:endParaRPr lang="zh-CN" altLang="en-US" sz="20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zh-CN" altLang="en-US"/>
              <a:t>技巧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74675" y="1844675"/>
            <a:ext cx="8378825" cy="16656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问</a:t>
            </a:r>
            <a:r>
              <a:rPr lang="en-US" altLang="zh-CN" sz="2000" b="1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题</a:t>
            </a:r>
            <a:r>
              <a:rPr lang="zh-CN" altLang="en-US" sz="2000" b="1" dirty="0">
                <a:ea typeface="宋体" panose="02010600030101010101" pitchFamily="2" charset="-122"/>
              </a:rPr>
              <a:t>：</a:t>
            </a:r>
            <a:r>
              <a:rPr lang="en-US" altLang="zh-CN" sz="2000" b="1" dirty="0">
                <a:sym typeface="+mn-ea"/>
              </a:rPr>
              <a:t>Scapy</a:t>
            </a:r>
            <a:r>
              <a:rPr lang="zh-CN" altLang="en-US" sz="2000" b="1" dirty="0">
                <a:ea typeface="宋体" panose="02010600030101010101" pitchFamily="2" charset="-122"/>
              </a:rPr>
              <a:t>执行太慢，攻击成功概率很低</a:t>
            </a:r>
            <a:endParaRPr lang="en-US" altLang="zh-CN" sz="2000" b="1" dirty="0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b="1" dirty="0">
                <a:ea typeface="宋体" panose="02010600030101010101" pitchFamily="2" charset="-122"/>
              </a:rPr>
              <a:t>解</a:t>
            </a:r>
            <a:r>
              <a:rPr lang="en-US" altLang="zh-CN" sz="2000" b="1" dirty="0"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ea typeface="宋体" panose="02010600030101010101" pitchFamily="2" charset="-122"/>
              </a:rPr>
              <a:t>决：使用</a:t>
            </a:r>
            <a:r>
              <a:rPr lang="en-US" altLang="zh-CN" sz="2000" b="1" dirty="0">
                <a:ea typeface="宋体" panose="02010600030101010101" pitchFamily="2" charset="-122"/>
              </a:rPr>
              <a:t>C</a:t>
            </a:r>
            <a:r>
              <a:rPr lang="zh-CN" altLang="en-US" sz="2000" b="1" dirty="0">
                <a:ea typeface="宋体" panose="02010600030101010101" pitchFamily="2" charset="-122"/>
              </a:rPr>
              <a:t>语言编写攻击</a:t>
            </a:r>
            <a:r>
              <a:rPr lang="zh-CN" altLang="en-US" sz="2000" b="1" dirty="0">
                <a:ea typeface="宋体" panose="02010600030101010101" pitchFamily="2" charset="-122"/>
              </a:rPr>
              <a:t>代码。</a:t>
            </a:r>
            <a:endParaRPr lang="zh-CN" altLang="en-US" sz="2000" b="1" dirty="0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endParaRPr lang="zh-CN" altLang="en-US" sz="2000" b="1" dirty="0"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问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题：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代码构造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DNS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报文比较复杂，效率太低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解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决：二者融合</a:t>
            </a:r>
            <a:endParaRPr lang="zh-CN" altLang="en-US" sz="2000" b="1" dirty="0">
              <a:ea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628265" y="3933190"/>
            <a:ext cx="4185388" cy="1883759"/>
            <a:chOff x="1530" y="6038"/>
            <a:chExt cx="5673" cy="2405"/>
          </a:xfrm>
        </p:grpSpPr>
        <p:grpSp>
          <p:nvGrpSpPr>
            <p:cNvPr id="16" name="组合 15"/>
            <p:cNvGrpSpPr/>
            <p:nvPr/>
          </p:nvGrpSpPr>
          <p:grpSpPr>
            <a:xfrm>
              <a:off x="1530" y="6038"/>
              <a:ext cx="5673" cy="2405"/>
              <a:chOff x="1530" y="6874"/>
              <a:chExt cx="5673" cy="2405"/>
            </a:xfrm>
          </p:grpSpPr>
          <p:grpSp>
            <p:nvGrpSpPr>
              <p:cNvPr id="14" name="组合 13"/>
              <p:cNvGrpSpPr/>
              <p:nvPr/>
            </p:nvGrpSpPr>
            <p:grpSpPr>
              <a:xfrm>
                <a:off x="1530" y="7387"/>
                <a:ext cx="5673" cy="1892"/>
                <a:chOff x="4365" y="5906"/>
                <a:chExt cx="5673" cy="1892"/>
              </a:xfrm>
            </p:grpSpPr>
            <p:sp>
              <p:nvSpPr>
                <p:cNvPr id="9" name="文本框 8"/>
                <p:cNvSpPr txBox="1"/>
                <p:nvPr/>
              </p:nvSpPr>
              <p:spPr>
                <a:xfrm>
                  <a:off x="4365" y="7328"/>
                  <a:ext cx="5673" cy="470"/>
                </a:xfrm>
                <a:prstGeom prst="rect">
                  <a:avLst/>
                </a:prstGeom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0"/>
                </a:gradFill>
                <a:ln w="12700" cmpd="sng">
                  <a:solidFill>
                    <a:schemeClr val="accent1">
                      <a:shade val="50000"/>
                    </a:schemeClr>
                  </a:solidFill>
                  <a:prstDash val="solid"/>
                </a:ln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/>
                    <a:t>DNS</a:t>
                  </a:r>
                  <a:r>
                    <a:rPr lang="zh-CN" altLang="en-US"/>
                    <a:t>响应报文</a:t>
                  </a:r>
                  <a:r>
                    <a:rPr lang="en-US" altLang="zh-CN"/>
                    <a:t>              </a:t>
                  </a:r>
                  <a:r>
                    <a:rPr lang="zh-CN" altLang="en-US"/>
                    <a:t>二进制</a:t>
                  </a:r>
                  <a:r>
                    <a:rPr lang="zh-CN" altLang="en-US"/>
                    <a:t>文件</a:t>
                  </a:r>
                  <a:endParaRPr lang="zh-CN" altLang="en-US"/>
                </a:p>
              </p:txBody>
            </p:sp>
            <p:sp>
              <p:nvSpPr>
                <p:cNvPr id="11" name="文本框 10"/>
                <p:cNvSpPr txBox="1"/>
                <p:nvPr/>
              </p:nvSpPr>
              <p:spPr>
                <a:xfrm>
                  <a:off x="5386" y="5906"/>
                  <a:ext cx="1619" cy="509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p>
                  <a:r>
                    <a:rPr lang="en-US" altLang="zh-CN" sz="2000" b="1" dirty="0">
                      <a:sym typeface="+mn-ea"/>
                    </a:rPr>
                    <a:t>Scapy</a:t>
                  </a:r>
                  <a:endParaRPr lang="en-US" altLang="zh-CN" sz="2000" b="1" dirty="0">
                    <a:sym typeface="+mn-ea"/>
                  </a:endParaRPr>
                </a:p>
              </p:txBody>
            </p:sp>
            <p:sp>
              <p:nvSpPr>
                <p:cNvPr id="13" name="下箭头 12"/>
                <p:cNvSpPr/>
                <p:nvPr/>
              </p:nvSpPr>
              <p:spPr>
                <a:xfrm>
                  <a:off x="5613" y="6548"/>
                  <a:ext cx="907" cy="681"/>
                </a:xfrm>
                <a:prstGeom prst="downArrow">
                  <a:avLst/>
                </a:prstGeom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5" name="图片 14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4248" y="6874"/>
                <a:ext cx="2955" cy="1655"/>
              </a:xfrm>
              <a:prstGeom prst="rect">
                <a:avLst/>
              </a:prstGeom>
            </p:spPr>
          </p:pic>
        </p:grpSp>
        <p:cxnSp>
          <p:nvCxnSpPr>
            <p:cNvPr id="17" name="直接箭头连接符 16"/>
            <p:cNvCxnSpPr/>
            <p:nvPr/>
          </p:nvCxnSpPr>
          <p:spPr>
            <a:xfrm flipV="1">
              <a:off x="4241" y="8202"/>
              <a:ext cx="739" cy="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zh-CN" altLang="en-US"/>
              <a:t>技巧</a:t>
            </a:r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574675" y="1844675"/>
            <a:ext cx="7999095" cy="4324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buFont typeface="Arial" panose="020B0604020202020204" pitchFamily="34" charset="0"/>
            </a:pP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C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语言代码读取二进制文件，使用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原始套接字发送伪造报文</a:t>
            </a:r>
            <a:endParaRPr lang="zh-CN" altLang="en-US" sz="2000" b="1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4675" y="2277110"/>
            <a:ext cx="4678680" cy="4324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buFont typeface="Arial" panose="020B0604020202020204" pitchFamily="34" charset="0"/>
            </a:pPr>
            <a:r>
              <a:rPr lang="zh-CN" altLang="en-US" sz="2000" b="1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注意：需要更新</a:t>
            </a:r>
            <a:r>
              <a:rPr lang="en-US" altLang="zh-CN" sz="2000" b="1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DNS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响应报文</a:t>
            </a:r>
            <a:r>
              <a:rPr lang="zh-CN" altLang="en-US" sz="2000" b="1" dirty="0"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内容：</a:t>
            </a:r>
            <a:endParaRPr lang="zh-CN" altLang="en-US" sz="2000" b="1" dirty="0">
              <a:solidFill>
                <a:srgbClr val="FF0000"/>
              </a:solidFill>
              <a:effectLst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74675" y="2637155"/>
            <a:ext cx="7999095" cy="1553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、事务</a:t>
            </a: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ID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（从</a:t>
            </a: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IP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首部开始，偏移</a:t>
            </a: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28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字节）</a:t>
            </a:r>
            <a:endParaRPr lang="en-US" altLang="zh-CN" sz="2000" b="1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question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域（从</a:t>
            </a: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IP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首部开始，偏移量需要测算）</a:t>
            </a:r>
            <a:endParaRPr lang="zh-CN" altLang="en-US" sz="2000" b="1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answer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域（从</a:t>
            </a:r>
            <a:r>
              <a:rPr lang="en-US" altLang="zh-CN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IP</a:t>
            </a:r>
            <a:r>
              <a:rPr lang="zh-CN" altLang="en-US" sz="2000" b="1" dirty="0">
                <a:solidFill>
                  <a:schemeClr val="tx1"/>
                </a:solidFill>
                <a:effectLst/>
                <a:ea typeface="宋体" panose="02010600030101010101" pitchFamily="2" charset="-122"/>
              </a:rPr>
              <a:t>首部开始，偏移量需要测算）</a:t>
            </a:r>
            <a:endParaRPr lang="zh-CN" altLang="en-US" sz="2000" b="1" dirty="0">
              <a:solidFill>
                <a:schemeClr val="tx1"/>
              </a:solidFill>
              <a:effectLst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120" y="4366895"/>
            <a:ext cx="4127500" cy="16236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4 </a:t>
            </a:r>
            <a:r>
              <a:rPr lang="zh-CN" altLang="en-US"/>
              <a:t>实验要求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按照实验指导手册，使用本实验提供的虚拟机完成实验内容。</a:t>
            </a:r>
            <a:endParaRPr lang="zh-CN" altLang="en-US" sz="2800" dirty="0"/>
          </a:p>
          <a:p>
            <a:r>
              <a:rPr lang="zh-CN" altLang="en-US" sz="2800" dirty="0"/>
              <a:t>通过实验课的上机实验，提交习题测评。</a:t>
            </a:r>
            <a:endParaRPr lang="en-US" altLang="zh-CN" sz="2800" dirty="0"/>
          </a:p>
          <a:p>
            <a:r>
              <a:rPr lang="zh-CN" altLang="en-US" sz="2800" dirty="0">
                <a:solidFill>
                  <a:srgbClr val="FF0000"/>
                </a:solidFill>
              </a:rPr>
              <a:t>远程缓冲中毒实验时，伪造的响应报文中，</a:t>
            </a:r>
            <a:r>
              <a:rPr lang="en-US" altLang="zh-CN" sz="2800" dirty="0">
                <a:solidFill>
                  <a:srgbClr val="FF0000"/>
                </a:solidFill>
              </a:rPr>
              <a:t>ns.dnslabattack.net</a:t>
            </a:r>
            <a:r>
              <a:rPr lang="zh-CN" altLang="en-US" sz="2800" dirty="0">
                <a:solidFill>
                  <a:srgbClr val="FF0000"/>
                </a:solidFill>
              </a:rPr>
              <a:t>的名字改为“</a:t>
            </a:r>
            <a:r>
              <a:rPr lang="en-US" altLang="zh-CN" sz="2800" dirty="0">
                <a:solidFill>
                  <a:srgbClr val="FF0000"/>
                </a:solidFill>
              </a:rPr>
              <a:t>ns.hust-cse.net”</a:t>
            </a:r>
            <a:r>
              <a:rPr lang="zh-CN" altLang="en-US" sz="2800" dirty="0">
                <a:solidFill>
                  <a:srgbClr val="FF0000"/>
                </a:solidFill>
              </a:rPr>
              <a:t>，相应的配置文件也要自行修改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ym typeface="+mn-ea"/>
              </a:rPr>
              <a:t>本次实验不需要提交报告</a:t>
            </a:r>
            <a:endParaRPr lang="en-US" altLang="zh-CN" sz="2800" dirty="0">
              <a:sym typeface="+mn-ea"/>
            </a:endParaRPr>
          </a:p>
          <a:p>
            <a:pPr marL="0" indent="0">
              <a:buNone/>
            </a:pP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参考资料：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杜文亮</a:t>
            </a:r>
            <a:r>
              <a:rPr lang="en-US" altLang="zh-CN" dirty="0"/>
              <a:t>. </a:t>
            </a:r>
            <a:r>
              <a:rPr lang="zh-CN" altLang="en-US" dirty="0"/>
              <a:t>计算机安全导论：深度实践</a:t>
            </a:r>
            <a:r>
              <a:rPr lang="en-US" altLang="zh-CN" dirty="0"/>
              <a:t>. </a:t>
            </a:r>
            <a:r>
              <a:rPr lang="zh-CN" altLang="en-US" dirty="0"/>
              <a:t>高等教育出版社</a:t>
            </a:r>
            <a:endParaRPr lang="en-US" altLang="zh-CN" dirty="0"/>
          </a:p>
          <a:p>
            <a:r>
              <a:rPr lang="en-US" altLang="zh-CN" dirty="0"/>
              <a:t>SEED</a:t>
            </a:r>
            <a:r>
              <a:rPr lang="zh-CN" altLang="en-US" dirty="0"/>
              <a:t>实验室网站：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1"/>
              </a:rPr>
              <a:t>https://seedsecuritylabs.org/</a:t>
            </a:r>
            <a:endParaRPr lang="en-US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 err="1"/>
              <a:t>Scapy</a:t>
            </a:r>
            <a:r>
              <a:rPr lang="zh-CN" altLang="en-US" dirty="0"/>
              <a:t>中文手册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2400" kern="10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     https://wizardforcel.gitbooks.io/scapy-docs/content/</a:t>
            </a:r>
            <a:endParaRPr lang="zh-CN" altLang="en-US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常见错误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7055" y="1752600"/>
            <a:ext cx="8001000" cy="4628515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1. service bind9 start</a:t>
            </a:r>
            <a:endParaRPr lang="en-US" altLang="zh-CN" sz="2400" dirty="0"/>
          </a:p>
          <a:p>
            <a:pPr marL="457200" lvl="1" algn="l">
              <a:buSzTx/>
              <a:buNone/>
            </a:pPr>
            <a:r>
              <a:rPr lang="zh-CN" altLang="en-US" sz="2400" dirty="0"/>
              <a:t>  </a:t>
            </a:r>
            <a:r>
              <a:rPr lang="en-US" altLang="zh-CN" sz="2400" dirty="0"/>
              <a:t>  </a:t>
            </a:r>
            <a:r>
              <a:rPr lang="zh-CN" altLang="en-US" sz="2000" dirty="0">
                <a:cs typeface="+mn-ea"/>
              </a:rPr>
              <a:t>提示加载liblwres.so.141动态库失败，权限不够</a:t>
            </a:r>
            <a:endParaRPr lang="zh-CN" altLang="en-US" sz="2000" dirty="0">
              <a:cs typeface="+mn-ea"/>
            </a:endParaRPr>
          </a:p>
          <a:p>
            <a:pPr marL="457200" lvl="1" algn="l">
              <a:buSzTx/>
              <a:buNone/>
            </a:pPr>
            <a:r>
              <a:rPr lang="zh-CN" altLang="en-US" sz="2000" dirty="0">
                <a:cs typeface="+mn-ea"/>
              </a:rPr>
              <a:t>  </a:t>
            </a:r>
            <a:r>
              <a:rPr lang="en-US" altLang="zh-CN" sz="2000" dirty="0">
                <a:cs typeface="+mn-ea"/>
              </a:rPr>
              <a:t>   </a:t>
            </a:r>
            <a:r>
              <a:rPr lang="zh-CN" altLang="en-US" sz="2000" dirty="0">
                <a:solidFill>
                  <a:srgbClr val="FF0000"/>
                </a:solidFill>
                <a:cs typeface="+mn-ea"/>
              </a:rPr>
              <a:t>解决:</a:t>
            </a:r>
            <a:r>
              <a:rPr lang="zh-CN" altLang="en-US" sz="2000" b="1" dirty="0">
                <a:solidFill>
                  <a:srgbClr val="FF0000"/>
                </a:solidFill>
                <a:cs typeface="+mn-ea"/>
              </a:rPr>
              <a:t> </a:t>
            </a:r>
            <a:r>
              <a:rPr lang="zh-CN" altLang="en-US" sz="2000" dirty="0">
                <a:cs typeface="+mn-ea"/>
              </a:rPr>
              <a:t>docker run后面不带--privileged参数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>
                <a:sym typeface="+mn-ea"/>
              </a:rPr>
              <a:t>2. service named start  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启动失败，无错误原因提示</a:t>
            </a:r>
            <a:endParaRPr lang="en-US" altLang="zh-CN" sz="2000" dirty="0"/>
          </a:p>
          <a:p>
            <a:pPr marL="457200" lvl="1" algn="l">
              <a:buSzTx/>
              <a:buNone/>
            </a:pPr>
            <a:r>
              <a:rPr lang="en-US" altLang="zh-CN" sz="2000" dirty="0">
                <a:cs typeface="+mn-ea"/>
                <a:sym typeface="+mn-ea"/>
              </a:rPr>
              <a:t>     </a:t>
            </a:r>
            <a:r>
              <a:rPr lang="zh-CN" altLang="en-US" sz="2000" dirty="0">
                <a:cs typeface="+mn-ea"/>
                <a:sym typeface="+mn-ea"/>
              </a:rPr>
              <a:t>查看错误信息：named –d 3 –f –g &amp;  （调试信息显示在屏幕上</a:t>
            </a:r>
            <a:endParaRPr lang="zh-CN" altLang="en-US" sz="2000" dirty="0">
              <a:cs typeface="+mn-ea"/>
              <a:sym typeface="+mn-ea"/>
            </a:endParaRPr>
          </a:p>
          <a:p>
            <a:pPr marL="457200" lvl="1" algn="l">
              <a:buSzTx/>
              <a:buNone/>
            </a:pP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     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原因：</a:t>
            </a:r>
            <a:r>
              <a:rPr lang="zh-CN" altLang="en-US" sz="2000" dirty="0">
                <a:sym typeface="+mn-ea"/>
              </a:rPr>
              <a:t>一般是由配置文件</a:t>
            </a:r>
            <a:r>
              <a:rPr lang="en-US" altLang="zh-CN" sz="2000" dirty="0">
                <a:sym typeface="+mn-ea"/>
              </a:rPr>
              <a:t>named.conf.default-zones</a:t>
            </a:r>
            <a:r>
              <a:rPr lang="zh-CN" altLang="en-US" sz="2000" dirty="0">
                <a:sym typeface="+mn-ea"/>
              </a:rPr>
              <a:t>和</a:t>
            </a:r>
            <a:r>
              <a:rPr lang="en-US" altLang="zh-CN" sz="2000" dirty="0">
                <a:sym typeface="+mn-ea"/>
              </a:rPr>
              <a:t>db</a:t>
            </a:r>
            <a:r>
              <a:rPr lang="zh-CN" altLang="en-US" sz="2000" dirty="0">
                <a:sym typeface="+mn-ea"/>
              </a:rPr>
              <a:t>文件语法错误引起的（</a:t>
            </a:r>
            <a:r>
              <a:rPr lang="en-US" altLang="zh-CN" sz="2000" dirty="0">
                <a:sym typeface="+mn-ea"/>
              </a:rPr>
              <a:t>default-zones</a:t>
            </a:r>
            <a:r>
              <a:rPr lang="zh-CN" altLang="en-US" sz="2000" dirty="0">
                <a:sym typeface="+mn-ea"/>
              </a:rPr>
              <a:t>文件的</a:t>
            </a:r>
            <a:r>
              <a:rPr lang="en-US" altLang="zh-CN" sz="2000" dirty="0">
                <a:sym typeface="+mn-ea"/>
              </a:rPr>
              <a:t>’}’</a:t>
            </a:r>
            <a:r>
              <a:rPr lang="zh-CN" altLang="en-US" sz="2000" dirty="0">
                <a:sym typeface="+mn-ea"/>
              </a:rPr>
              <a:t>后面的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分号</a:t>
            </a:r>
            <a:r>
              <a:rPr lang="zh-CN" altLang="en-US" sz="2000" dirty="0">
                <a:sym typeface="+mn-ea"/>
              </a:rPr>
              <a:t>容易漏掉，</a:t>
            </a:r>
            <a:r>
              <a:rPr lang="en-US" altLang="zh-CN" sz="2000" dirty="0">
                <a:sym typeface="+mn-ea"/>
              </a:rPr>
              <a:t>db</a:t>
            </a:r>
            <a:r>
              <a:rPr lang="zh-CN" altLang="en-US" sz="2000" dirty="0">
                <a:sym typeface="+mn-ea"/>
              </a:rPr>
              <a:t>文件可能有不可见字符）</a:t>
            </a:r>
            <a:endParaRPr lang="zh-CN" altLang="en-US" sz="2000" dirty="0">
              <a:sym typeface="+mn-ea"/>
            </a:endParaRPr>
          </a:p>
          <a:p>
            <a:pPr marL="457200" lvl="1" algn="l">
              <a:buSzTx/>
              <a:buNone/>
            </a:pP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     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注意：</a:t>
            </a:r>
            <a:r>
              <a:rPr lang="zh-CN" altLang="en-US" sz="2000" dirty="0">
                <a:sym typeface="+mn-ea"/>
              </a:rPr>
              <a:t>运行</a:t>
            </a:r>
            <a:r>
              <a:rPr lang="en-US" altLang="zh-CN" sz="2000" dirty="0">
                <a:sym typeface="+mn-ea"/>
              </a:rPr>
              <a:t>named</a:t>
            </a:r>
            <a:r>
              <a:rPr lang="zh-CN" altLang="en-US" sz="2000" dirty="0">
                <a:sym typeface="+mn-ea"/>
              </a:rPr>
              <a:t>之前，</a:t>
            </a:r>
            <a:r>
              <a:rPr lang="en-US" altLang="zh-CN" sz="2000" dirty="0">
                <a:sym typeface="+mn-ea"/>
              </a:rPr>
              <a:t>ps aux</a:t>
            </a:r>
            <a:r>
              <a:rPr lang="zh-CN" altLang="en-US" sz="2000" dirty="0">
                <a:sym typeface="+mn-ea"/>
              </a:rPr>
              <a:t>查看一下</a:t>
            </a:r>
            <a:r>
              <a:rPr lang="en-US" altLang="zh-CN" sz="2000" dirty="0">
                <a:sym typeface="+mn-ea"/>
              </a:rPr>
              <a:t>named</a:t>
            </a:r>
            <a:r>
              <a:rPr lang="zh-CN" altLang="en-US" sz="2000" dirty="0">
                <a:sym typeface="+mn-ea"/>
              </a:rPr>
              <a:t>进程是否已经启动，已经启动的话，先</a:t>
            </a:r>
            <a:r>
              <a:rPr lang="en-US" altLang="zh-CN" sz="2000" dirty="0">
                <a:sym typeface="+mn-ea"/>
              </a:rPr>
              <a:t>kill </a:t>
            </a:r>
            <a:r>
              <a:rPr lang="zh-CN" altLang="en-US" sz="2000" dirty="0">
                <a:sym typeface="+mn-ea"/>
              </a:rPr>
              <a:t>该进程号</a:t>
            </a:r>
            <a:r>
              <a:rPr lang="en-US" altLang="zh-CN" sz="2000" dirty="0">
                <a:sym typeface="+mn-ea"/>
              </a:rPr>
              <a:t>,</a:t>
            </a:r>
            <a:r>
              <a:rPr lang="zh-CN" altLang="en-US" sz="2000" dirty="0">
                <a:sym typeface="+mn-ea"/>
              </a:rPr>
              <a:t>再启动</a:t>
            </a:r>
            <a:endParaRPr lang="zh-CN" altLang="en-US" sz="2000" dirty="0"/>
          </a:p>
          <a:p>
            <a:pPr marL="0" indent="0">
              <a:buNone/>
            </a:pP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常见错误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7055" y="1752600"/>
            <a:ext cx="8001000" cy="4521200"/>
          </a:xfrm>
        </p:spPr>
        <p:txBody>
          <a:bodyPr/>
          <a:lstStyle/>
          <a:p>
            <a:pPr marL="0" lvl="0" indent="0">
              <a:buNone/>
            </a:pPr>
            <a:r>
              <a:rPr lang="en-US" altLang="zh-CN" sz="2400" dirty="0"/>
              <a:t>3. </a:t>
            </a:r>
            <a:r>
              <a:rPr lang="zh-CN" altLang="en-US" sz="2400" dirty="0"/>
              <a:t>服务器上增加了</a:t>
            </a:r>
            <a:r>
              <a:rPr lang="en-US" altLang="zh-CN" sz="2400" dirty="0"/>
              <a:t>zone</a:t>
            </a:r>
            <a:r>
              <a:rPr lang="zh-CN" altLang="en-US" sz="2400" dirty="0"/>
              <a:t>以后，客户机仍无法解析域名</a:t>
            </a:r>
            <a:endParaRPr lang="zh-CN" altLang="en-US" sz="2400" dirty="0"/>
          </a:p>
          <a:p>
            <a:pPr marL="457200" lvl="1" indent="0">
              <a:buNone/>
            </a:pPr>
            <a:r>
              <a:rPr lang="zh-CN" altLang="en-US" sz="1800" b="1" dirty="0">
                <a:solidFill>
                  <a:srgbClr val="FF0000"/>
                </a:solidFill>
              </a:rPr>
              <a:t>原因</a:t>
            </a:r>
            <a:r>
              <a:rPr lang="zh-CN" altLang="en-US" sz="1800" dirty="0"/>
              <a:t>：</a:t>
            </a:r>
            <a:r>
              <a:rPr lang="en-US" altLang="zh-CN" sz="1800" dirty="0"/>
              <a:t>1</a:t>
            </a:r>
            <a:r>
              <a:rPr lang="zh-CN" altLang="en-US" sz="1800" dirty="0"/>
              <a:t>）服务器未启动，</a:t>
            </a:r>
            <a:r>
              <a:rPr lang="en-US" altLang="zh-CN" sz="1800" dirty="0"/>
              <a:t>netstat -an</a:t>
            </a:r>
            <a:r>
              <a:rPr lang="zh-CN" altLang="en-US" sz="1800" dirty="0"/>
              <a:t>查看</a:t>
            </a:r>
            <a:r>
              <a:rPr lang="en-US" altLang="zh-CN" sz="1800" dirty="0"/>
              <a:t>53</a:t>
            </a:r>
            <a:r>
              <a:rPr lang="zh-CN" altLang="en-US" sz="1800" dirty="0"/>
              <a:t>端口是否处于监听；</a:t>
            </a:r>
            <a:r>
              <a:rPr lang="en-US" altLang="zh-CN" sz="1800" dirty="0"/>
              <a:t> </a:t>
            </a:r>
            <a:endParaRPr lang="en-US" altLang="zh-CN" sz="1800" dirty="0"/>
          </a:p>
          <a:p>
            <a:pPr marL="457200" lvl="1" indent="0">
              <a:buNone/>
            </a:pPr>
            <a:r>
              <a:rPr lang="en-US" altLang="zh-CN" sz="1800" dirty="0"/>
              <a:t>        2</a:t>
            </a:r>
            <a:r>
              <a:rPr lang="zh-CN" altLang="en-US" sz="1800" dirty="0"/>
              <a:t>）配置文件</a:t>
            </a:r>
            <a:r>
              <a:rPr lang="en-US" altLang="zh-CN" sz="1800" dirty="0">
                <a:sym typeface="+mn-ea"/>
              </a:rPr>
              <a:t>named.conf.default-zones</a:t>
            </a:r>
            <a:r>
              <a:rPr lang="zh-CN" altLang="en-US" sz="1800" dirty="0">
                <a:sym typeface="+mn-ea"/>
              </a:rPr>
              <a:t>和</a:t>
            </a:r>
            <a:r>
              <a:rPr lang="en-US" altLang="zh-CN" sz="1800" dirty="0">
                <a:sym typeface="+mn-ea"/>
              </a:rPr>
              <a:t>db</a:t>
            </a:r>
            <a:r>
              <a:rPr lang="zh-CN" altLang="en-US" sz="1800" dirty="0">
                <a:sym typeface="+mn-ea"/>
              </a:rPr>
              <a:t>文件的格式问题。</a:t>
            </a:r>
            <a:endParaRPr lang="zh-CN" altLang="en-US" sz="1800" dirty="0">
              <a:sym typeface="+mn-ea"/>
            </a:endParaRPr>
          </a:p>
          <a:p>
            <a:pPr marL="457200" lvl="1" indent="0">
              <a:buNone/>
            </a:pPr>
            <a:r>
              <a:rPr lang="zh-CN" altLang="en-US" sz="1800" b="1" dirty="0">
                <a:solidFill>
                  <a:srgbClr val="FF0000"/>
                </a:solidFill>
                <a:sym typeface="+mn-ea"/>
              </a:rPr>
              <a:t>解决</a:t>
            </a:r>
            <a:r>
              <a:rPr lang="zh-CN" altLang="en-US" sz="1800" dirty="0">
                <a:sym typeface="+mn-ea"/>
              </a:rPr>
              <a:t>：请下载</a:t>
            </a:r>
            <a:r>
              <a:rPr lang="en-US" altLang="zh-CN" sz="1800" dirty="0">
                <a:sym typeface="+mn-ea"/>
              </a:rPr>
              <a:t>example.com.db</a:t>
            </a:r>
            <a:r>
              <a:rPr lang="zh-CN" altLang="en-US" sz="1800" dirty="0">
                <a:sym typeface="+mn-ea"/>
              </a:rPr>
              <a:t>文件到服务器，在此模板上在</a:t>
            </a:r>
            <a:r>
              <a:rPr lang="en-US" altLang="zh-CN" sz="1800" dirty="0">
                <a:sym typeface="+mn-ea"/>
              </a:rPr>
              <a:t>linux</a:t>
            </a:r>
            <a:r>
              <a:rPr lang="zh-CN" altLang="en-US" sz="1800" dirty="0">
                <a:sym typeface="+mn-ea"/>
              </a:rPr>
              <a:t>下修改（</a:t>
            </a:r>
            <a:r>
              <a:rPr lang="en-US" altLang="zh-CN" sz="1800" dirty="0">
                <a:sym typeface="+mn-ea"/>
              </a:rPr>
              <a:t>windows</a:t>
            </a:r>
            <a:r>
              <a:rPr lang="zh-CN" altLang="en-US" sz="1800" dirty="0">
                <a:sym typeface="+mn-ea"/>
              </a:rPr>
              <a:t>下编辑可能会有一些不可见字符存在）</a:t>
            </a:r>
            <a:endParaRPr lang="zh-CN" altLang="en-US" sz="1800" dirty="0">
              <a:sym typeface="+mn-ea"/>
            </a:endParaRPr>
          </a:p>
          <a:p>
            <a:pPr marL="0" indent="0">
              <a:buNone/>
            </a:pPr>
            <a:r>
              <a:rPr lang="en-US" sz="2000" dirty="0">
                <a:sym typeface="+mn-ea"/>
              </a:rPr>
              <a:t>4. </a:t>
            </a:r>
            <a:r>
              <a:rPr lang="zh-CN" altLang="en-US" sz="2000" dirty="0">
                <a:sym typeface="+mn-ea"/>
              </a:rPr>
              <a:t>本地</a:t>
            </a:r>
            <a:r>
              <a:rPr lang="en-US" altLang="zh-CN" sz="2000" dirty="0">
                <a:sym typeface="+mn-ea"/>
              </a:rPr>
              <a:t>DNS</a:t>
            </a:r>
            <a:r>
              <a:rPr lang="zh-CN" altLang="en-US" sz="2000" dirty="0">
                <a:sym typeface="+mn-ea"/>
              </a:rPr>
              <a:t>攻击时，用</a:t>
            </a:r>
            <a:r>
              <a:rPr lang="en-US" altLang="zh-CN" sz="2000" dirty="0">
                <a:sym typeface="+mn-ea"/>
              </a:rPr>
              <a:t>netwox</a:t>
            </a:r>
            <a:r>
              <a:rPr lang="zh-CN" altLang="en-US" sz="2000" dirty="0">
                <a:sym typeface="+mn-ea"/>
              </a:rPr>
              <a:t>伪造了响应报文，</a:t>
            </a:r>
            <a:r>
              <a:rPr lang="en-US" altLang="zh-CN" sz="2000" dirty="0">
                <a:sym typeface="+mn-ea"/>
              </a:rPr>
              <a:t>wireshark</a:t>
            </a:r>
            <a:r>
              <a:rPr lang="zh-CN" altLang="en-US" sz="2000" dirty="0">
                <a:sym typeface="+mn-ea"/>
              </a:rPr>
              <a:t>也监</a:t>
            </a:r>
            <a:r>
              <a:rPr lang="en-US" altLang="zh-CN" sz="2000" dirty="0">
                <a:sym typeface="+mn-ea"/>
              </a:rPr>
              <a:t>    </a:t>
            </a:r>
            <a:r>
              <a:rPr lang="zh-CN" altLang="en-US" sz="2000" dirty="0">
                <a:sym typeface="+mn-ea"/>
              </a:rPr>
              <a:t>听到了伪造报文，为什么客户机解析出来的还是原来的</a:t>
            </a:r>
            <a:r>
              <a:rPr lang="en-US" altLang="zh-CN" sz="2000" dirty="0">
                <a:sym typeface="+mn-ea"/>
              </a:rPr>
              <a:t>IP?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原因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：</a:t>
            </a:r>
            <a:r>
              <a:rPr lang="zh-CN" altLang="en-US" sz="2000" dirty="0">
                <a:sym typeface="+mn-ea"/>
              </a:rPr>
              <a:t>伪造的</a:t>
            </a:r>
            <a:r>
              <a:rPr lang="en-US" altLang="zh-CN" sz="2000" dirty="0">
                <a:sym typeface="+mn-ea"/>
              </a:rPr>
              <a:t>DNS</a:t>
            </a:r>
            <a:r>
              <a:rPr lang="zh-CN" altLang="en-US" sz="2000" dirty="0">
                <a:sym typeface="+mn-ea"/>
              </a:rPr>
              <a:t>响应需要比真实服务器的响应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先到达</a:t>
            </a:r>
            <a:r>
              <a:rPr lang="zh-CN" altLang="en-US" sz="2000" dirty="0">
                <a:sym typeface="+mn-ea"/>
              </a:rPr>
              <a:t>客户机才能攻击成功。</a:t>
            </a:r>
            <a:endParaRPr lang="zh-CN" altLang="en-US" sz="2000" b="0" dirty="0"/>
          </a:p>
          <a:p>
            <a:pPr marL="457200" lvl="1" indent="0">
              <a:buNone/>
            </a:pPr>
            <a:r>
              <a:rPr lang="zh-CN" altLang="en-US" sz="2000" b="1" dirty="0">
                <a:solidFill>
                  <a:srgbClr val="FF0000"/>
                </a:solidFill>
                <a:sym typeface="+mn-ea"/>
              </a:rPr>
              <a:t>解决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：</a:t>
            </a:r>
            <a:r>
              <a:rPr lang="en-US" altLang="zh-CN" sz="2000" dirty="0">
                <a:sym typeface="+mn-ea"/>
              </a:rPr>
              <a:t>1</a:t>
            </a:r>
            <a:r>
              <a:rPr lang="zh-CN" altLang="en-US" sz="2000" dirty="0">
                <a:sym typeface="+mn-ea"/>
              </a:rPr>
              <a:t>）指导手册中真实服务器也在局域网，所以伪造的响应报文很难比真实服务器响应更快，建议选择外网的域名（比如</a:t>
            </a:r>
            <a:r>
              <a:rPr lang="en-US" altLang="zh-CN" sz="2000" dirty="0">
                <a:sym typeface="+mn-ea"/>
              </a:rPr>
              <a:t>baidu.com, 163.com</a:t>
            </a:r>
            <a:r>
              <a:rPr lang="zh-CN" altLang="en-US" sz="2000" dirty="0">
                <a:sym typeface="+mn-ea"/>
              </a:rPr>
              <a:t>等）进行测试</a:t>
            </a:r>
            <a:endParaRPr lang="zh-CN" altLang="en-US" sz="2000" b="0" dirty="0"/>
          </a:p>
          <a:p>
            <a:pPr marL="457200" lvl="1" indent="0">
              <a:buNone/>
            </a:pPr>
            <a:r>
              <a:rPr lang="en-US" altLang="zh-CN" sz="2000" dirty="0">
                <a:sym typeface="+mn-ea"/>
              </a:rPr>
              <a:t>         2</a:t>
            </a:r>
            <a:r>
              <a:rPr lang="zh-CN" altLang="en-US" sz="2000" dirty="0">
                <a:sym typeface="+mn-ea"/>
              </a:rPr>
              <a:t>）用</a:t>
            </a:r>
            <a:r>
              <a:rPr lang="en-US" altLang="zh-CN" sz="2000" dirty="0">
                <a:sym typeface="+mn-ea"/>
              </a:rPr>
              <a:t>scapy</a:t>
            </a:r>
            <a:r>
              <a:rPr lang="zh-CN" altLang="en-US" sz="2000" dirty="0">
                <a:sym typeface="+mn-ea"/>
              </a:rPr>
              <a:t>实现</a:t>
            </a:r>
            <a:endParaRPr lang="zh-CN" altLang="en-US" sz="2000" b="0" dirty="0"/>
          </a:p>
          <a:p>
            <a:pPr marL="457200" lvl="1" indent="0">
              <a:buNone/>
            </a:pPr>
            <a:endParaRPr lang="zh-CN" altLang="en-US" sz="2000" dirty="0"/>
          </a:p>
          <a:p>
            <a:pPr marL="0" lvl="0" indent="0">
              <a:buNone/>
            </a:pPr>
            <a:endParaRPr lang="zh-CN" altLang="en-US" sz="2000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常见错误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/>
              <a:t>4. </a:t>
            </a:r>
            <a:r>
              <a:rPr lang="zh-CN" altLang="en-US" sz="2000" dirty="0"/>
              <a:t>本地</a:t>
            </a:r>
            <a:r>
              <a:rPr lang="en-US" altLang="zh-CN" sz="2000" dirty="0"/>
              <a:t>DNS</a:t>
            </a:r>
            <a:r>
              <a:rPr lang="zh-CN" altLang="en-US" sz="2000" dirty="0"/>
              <a:t>攻击时，用</a:t>
            </a:r>
            <a:r>
              <a:rPr lang="en-US" altLang="zh-CN" sz="2000" dirty="0"/>
              <a:t>netwox</a:t>
            </a:r>
            <a:r>
              <a:rPr lang="zh-CN" altLang="en-US" sz="2000" dirty="0"/>
              <a:t>伪造了响应报文，</a:t>
            </a:r>
            <a:r>
              <a:rPr lang="en-US" altLang="zh-CN" sz="2000" dirty="0"/>
              <a:t>wireshark</a:t>
            </a:r>
            <a:r>
              <a:rPr lang="zh-CN" altLang="en-US" sz="2000" dirty="0"/>
              <a:t>也监听到了伪造报文，为什么客户机解析出来的还是原来的</a:t>
            </a:r>
            <a:r>
              <a:rPr lang="en-US" altLang="zh-CN" sz="2000" dirty="0"/>
              <a:t>IP?</a:t>
            </a:r>
            <a:endParaRPr lang="en-US" altLang="zh-CN" sz="2000" dirty="0"/>
          </a:p>
          <a:p>
            <a:pPr marL="457200" lvl="1" indent="0"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原因</a:t>
            </a:r>
            <a:r>
              <a:rPr lang="zh-CN" altLang="en-US" sz="2000" b="0" dirty="0">
                <a:solidFill>
                  <a:srgbClr val="FF0000"/>
                </a:solidFill>
              </a:rPr>
              <a:t>：</a:t>
            </a:r>
            <a:r>
              <a:rPr lang="zh-CN" altLang="en-US" sz="2000" b="0" dirty="0"/>
              <a:t>伪造的</a:t>
            </a:r>
            <a:r>
              <a:rPr lang="en-US" altLang="zh-CN" sz="2000" b="0" dirty="0"/>
              <a:t>DNS</a:t>
            </a:r>
            <a:r>
              <a:rPr lang="zh-CN" altLang="en-US" sz="2000" b="0" dirty="0"/>
              <a:t>响应需要比真实服务器的响应</a:t>
            </a:r>
            <a:r>
              <a:rPr lang="zh-CN" altLang="en-US" sz="2000" b="0" dirty="0">
                <a:solidFill>
                  <a:srgbClr val="FF0000"/>
                </a:solidFill>
              </a:rPr>
              <a:t>先到达</a:t>
            </a:r>
            <a:r>
              <a:rPr lang="zh-CN" altLang="en-US" sz="2000" b="0" dirty="0"/>
              <a:t>客户机才能攻击成功。</a:t>
            </a:r>
            <a:endParaRPr lang="zh-CN" altLang="en-US" sz="2000" b="0" dirty="0"/>
          </a:p>
          <a:p>
            <a:pPr marL="457200" lvl="1" indent="0">
              <a:buNone/>
            </a:pPr>
            <a:r>
              <a:rPr lang="zh-CN" altLang="en-US" sz="2000" b="1" dirty="0">
                <a:solidFill>
                  <a:srgbClr val="FF0000"/>
                </a:solidFill>
              </a:rPr>
              <a:t>解决</a:t>
            </a:r>
            <a:r>
              <a:rPr lang="zh-CN" altLang="en-US" sz="2000" b="0" dirty="0">
                <a:solidFill>
                  <a:srgbClr val="FF0000"/>
                </a:solidFill>
              </a:rPr>
              <a:t>：</a:t>
            </a:r>
            <a:r>
              <a:rPr lang="en-US" altLang="zh-CN" sz="2000" b="0" dirty="0"/>
              <a:t>1</a:t>
            </a:r>
            <a:r>
              <a:rPr lang="zh-CN" altLang="en-US" sz="2000" b="0" dirty="0"/>
              <a:t>）指导手册中真实服务器也在局域网，所以伪造的响应报文很难比真实服务器响应更快，建议选择外网的域名（比如</a:t>
            </a:r>
            <a:r>
              <a:rPr lang="en-US" altLang="zh-CN" sz="2000" b="0" dirty="0"/>
              <a:t>baidu.com, 163.com</a:t>
            </a:r>
            <a:r>
              <a:rPr lang="zh-CN" altLang="en-US" sz="2000" b="0" dirty="0"/>
              <a:t>等）进行测试</a:t>
            </a:r>
            <a:endParaRPr lang="zh-CN" altLang="en-US" sz="2000" b="0" dirty="0"/>
          </a:p>
          <a:p>
            <a:pPr marL="457200" lvl="1" indent="0">
              <a:buNone/>
            </a:pPr>
            <a:r>
              <a:rPr lang="en-US" altLang="zh-CN" sz="2000" b="0" dirty="0"/>
              <a:t>     2</a:t>
            </a:r>
            <a:r>
              <a:rPr lang="zh-CN" altLang="en-US" sz="2000" b="0" dirty="0"/>
              <a:t>）用</a:t>
            </a:r>
            <a:r>
              <a:rPr lang="en-US" altLang="zh-CN" sz="2000" b="0" dirty="0"/>
              <a:t>scapy</a:t>
            </a:r>
            <a:r>
              <a:rPr lang="zh-CN" altLang="en-US" sz="2000" b="0" dirty="0"/>
              <a:t>实现</a:t>
            </a:r>
            <a:endParaRPr lang="zh-CN" altLang="en-US" sz="2000" b="0" dirty="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SLIDE_MODEL_TYPE" val="cover"/>
</p:tagLst>
</file>

<file path=ppt/tags/tag2.xml><?xml version="1.0" encoding="utf-8"?>
<p:tagLst xmlns:p="http://schemas.openxmlformats.org/presentationml/2006/main">
  <p:tag name="REFSHAPE" val="395475004"/>
  <p:tag name="KSO_WM_UNIT_PLACING_PICTURE_USER_VIEWPORT" val="{&quot;height&quot;:5955,&quot;width&quot;:7665}"/>
</p:tagLst>
</file>

<file path=ppt/tags/tag3.xml><?xml version="1.0" encoding="utf-8"?>
<p:tagLst xmlns:p="http://schemas.openxmlformats.org/presentationml/2006/main">
  <p:tag name="REFSHAPE" val="285609708"/>
  <p:tag name="KSO_WM_UNIT_PLACING_PICTURE_USER_VIEWPORT" val="{&quot;height&quot;:6720,&quot;width&quot;:8856}"/>
</p:tagLst>
</file>

<file path=ppt/theme/theme1.xml><?xml version="1.0" encoding="utf-8"?>
<a:theme xmlns:a="http://schemas.openxmlformats.org/drawingml/2006/main" name="主题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主题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</Template>
  <TotalTime>0</TotalTime>
  <Words>3741</Words>
  <Application>WPS 演示</Application>
  <PresentationFormat>全屏显示(4:3)</PresentationFormat>
  <Paragraphs>309</Paragraphs>
  <Slides>34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Arial</vt:lpstr>
      <vt:lpstr>宋体</vt:lpstr>
      <vt:lpstr>Wingdings</vt:lpstr>
      <vt:lpstr>Verdana</vt:lpstr>
      <vt:lpstr>华文楷体</vt:lpstr>
      <vt:lpstr>微软雅黑</vt:lpstr>
      <vt:lpstr>Arial Unicode MS</vt:lpstr>
      <vt:lpstr>Calibri</vt:lpstr>
      <vt:lpstr>Times New Roman</vt:lpstr>
      <vt:lpstr>主题</vt:lpstr>
      <vt:lpstr>1_主题</vt:lpstr>
      <vt:lpstr>实验二 DNS协议漏洞利用实验</vt:lpstr>
      <vt:lpstr>主要内容</vt:lpstr>
      <vt:lpstr>1 实验目的</vt:lpstr>
      <vt:lpstr>2 实验环境</vt:lpstr>
      <vt:lpstr>docker容器的使用</vt:lpstr>
      <vt:lpstr>3 实验内容</vt:lpstr>
      <vt:lpstr>真正的DNS实现</vt:lpstr>
      <vt:lpstr>DNS区域和权威域名服务器</vt:lpstr>
      <vt:lpstr>本地DNS服务器</vt:lpstr>
      <vt:lpstr>DNS迭代查询</vt:lpstr>
      <vt:lpstr>DNS根域名服务器</vt:lpstr>
      <vt:lpstr>DNS查询举例</vt:lpstr>
      <vt:lpstr>DNS攻击</vt:lpstr>
      <vt:lpstr>DNS本地攻击（伪造本地域名服务器的响应）</vt:lpstr>
      <vt:lpstr>DNS本地攻击</vt:lpstr>
      <vt:lpstr>构造DNS报文</vt:lpstr>
      <vt:lpstr>Scapy构造DNS报文</vt:lpstr>
      <vt:lpstr>Scapy构造DNS报文</vt:lpstr>
      <vt:lpstr>DNS记录格式(RFC 1035)</vt:lpstr>
      <vt:lpstr>用scapy构造DNS报文</vt:lpstr>
      <vt:lpstr>用scapy构造DNS报文</vt:lpstr>
      <vt:lpstr>本地DNS缓存中毒攻击</vt:lpstr>
      <vt:lpstr>DNS远程攻击</vt:lpstr>
      <vt:lpstr>远程缓存中毒</vt:lpstr>
      <vt:lpstr>远程缓存中毒</vt:lpstr>
      <vt:lpstr>远程缓存中毒</vt:lpstr>
      <vt:lpstr>远程缓存中毒</vt:lpstr>
      <vt:lpstr>远程缓存中毒-Kaminsky攻击</vt:lpstr>
      <vt:lpstr>实验小技巧</vt:lpstr>
      <vt:lpstr>4 实验要求</vt:lpstr>
      <vt:lpstr>参考资料：</vt:lpstr>
      <vt:lpstr>常见错误</vt:lpstr>
      <vt:lpstr>常见错误</vt:lpstr>
      <vt:lpstr>常见错误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系统漏洞扫描原理介绍</dc:title>
  <dc:creator>YuanZhi</dc:creator>
  <cp:lastModifiedBy>肖凌</cp:lastModifiedBy>
  <cp:revision>266</cp:revision>
  <dcterms:created xsi:type="dcterms:W3CDTF">2003-06-23T13:22:00Z</dcterms:created>
  <dcterms:modified xsi:type="dcterms:W3CDTF">2025-11-24T05:50:40Z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7</vt:r8>
  </property>
  <property fmtid="{D5CDD505-2E9C-101B-9397-08002B2CF9AE}" pid="3" name="KSOProductBuildVer">
    <vt:lpwstr>2052-12.1.0.23542</vt:lpwstr>
  </property>
  <property fmtid="{D5CDD505-2E9C-101B-9397-08002B2CF9AE}" pid="4" name="ICV">
    <vt:lpwstr>8426E0B1F30F4F688B055F23E4EC0827_13</vt:lpwstr>
  </property>
</Properties>
</file>